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28" d="100"/>
          <a:sy n="28" d="100"/>
        </p:scale>
        <p:origin x="1075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rgbClr val="012B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03A3A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012B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3A3A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012B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3350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141083" y="4221075"/>
            <a:ext cx="1885314" cy="0"/>
          </a:xfrm>
          <a:custGeom>
            <a:avLst/>
            <a:gdLst/>
            <a:ahLst/>
            <a:cxnLst/>
            <a:rect l="l" t="t" r="r" b="b"/>
            <a:pathLst>
              <a:path w="1885315">
                <a:moveTo>
                  <a:pt x="0" y="0"/>
                </a:moveTo>
                <a:lnTo>
                  <a:pt x="1884759" y="0"/>
                </a:lnTo>
              </a:path>
            </a:pathLst>
          </a:custGeom>
          <a:ln w="39265">
            <a:solidFill>
              <a:srgbClr val="08A3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012B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3786" y="866853"/>
            <a:ext cx="13666385" cy="968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rgbClr val="012B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99356" y="4655351"/>
            <a:ext cx="8159750" cy="3611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03A3A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335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585363" y="3528422"/>
            <a:ext cx="6821805" cy="1694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950" spc="265" dirty="0">
                <a:solidFill>
                  <a:srgbClr val="002D5D"/>
                </a:solidFill>
                <a:latin typeface="Arial MT"/>
                <a:cs typeface="Arial MT"/>
              </a:rPr>
              <a:t>ClassFlow</a:t>
            </a:r>
            <a:endParaRPr sz="109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87538" y="5532942"/>
            <a:ext cx="8704580" cy="20300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350" spc="-45" dirty="0">
                <a:solidFill>
                  <a:srgbClr val="697580"/>
                </a:solidFill>
                <a:latin typeface="Calibri"/>
                <a:cs typeface="Calibri"/>
              </a:rPr>
              <a:t>Gestão</a:t>
            </a:r>
            <a:r>
              <a:rPr sz="4350" spc="-204" dirty="0">
                <a:solidFill>
                  <a:srgbClr val="697580"/>
                </a:solidFill>
                <a:latin typeface="Calibri"/>
                <a:cs typeface="Calibri"/>
              </a:rPr>
              <a:t> </a:t>
            </a:r>
            <a:r>
              <a:rPr sz="4350" spc="-65" dirty="0">
                <a:solidFill>
                  <a:srgbClr val="647487"/>
                </a:solidFill>
                <a:latin typeface="Calibri"/>
                <a:cs typeface="Calibri"/>
              </a:rPr>
              <a:t>Unificada</a:t>
            </a:r>
            <a:r>
              <a:rPr sz="4350" spc="-110" dirty="0">
                <a:solidFill>
                  <a:srgbClr val="647487"/>
                </a:solidFill>
                <a:latin typeface="Calibri"/>
                <a:cs typeface="Calibri"/>
              </a:rPr>
              <a:t> </a:t>
            </a:r>
            <a:r>
              <a:rPr sz="4350" spc="-75" dirty="0">
                <a:solidFill>
                  <a:srgbClr val="5E6B7B"/>
                </a:solidFill>
                <a:latin typeface="Calibri"/>
                <a:cs typeface="Calibri"/>
              </a:rPr>
              <a:t>de</a:t>
            </a:r>
            <a:r>
              <a:rPr sz="4350" spc="-204" dirty="0">
                <a:solidFill>
                  <a:srgbClr val="5E6B7B"/>
                </a:solidFill>
                <a:latin typeface="Calibri"/>
                <a:cs typeface="Calibri"/>
              </a:rPr>
              <a:t> </a:t>
            </a:r>
            <a:r>
              <a:rPr sz="4350" spc="-45" dirty="0">
                <a:solidFill>
                  <a:srgbClr val="6D778E"/>
                </a:solidFill>
                <a:latin typeface="Calibri"/>
                <a:cs typeface="Calibri"/>
              </a:rPr>
              <a:t>Sala</a:t>
            </a:r>
            <a:r>
              <a:rPr sz="4350" spc="-315" dirty="0">
                <a:solidFill>
                  <a:srgbClr val="6D778E"/>
                </a:solidFill>
                <a:latin typeface="Calibri"/>
                <a:cs typeface="Calibri"/>
              </a:rPr>
              <a:t> </a:t>
            </a:r>
            <a:r>
              <a:rPr sz="4350" spc="-70" dirty="0">
                <a:solidFill>
                  <a:srgbClr val="5E6B7B"/>
                </a:solidFill>
                <a:latin typeface="Calibri"/>
                <a:cs typeface="Calibri"/>
              </a:rPr>
              <a:t>de</a:t>
            </a:r>
            <a:r>
              <a:rPr sz="4350" spc="-190" dirty="0">
                <a:solidFill>
                  <a:srgbClr val="5E6B7B"/>
                </a:solidFill>
                <a:latin typeface="Calibri"/>
                <a:cs typeface="Calibri"/>
              </a:rPr>
              <a:t> </a:t>
            </a:r>
            <a:r>
              <a:rPr sz="4350" dirty="0">
                <a:solidFill>
                  <a:srgbClr val="647085"/>
                </a:solidFill>
                <a:latin typeface="Calibri"/>
                <a:cs typeface="Calibri"/>
              </a:rPr>
              <a:t>Aula</a:t>
            </a:r>
            <a:r>
              <a:rPr sz="4350" spc="-280" dirty="0">
                <a:solidFill>
                  <a:srgbClr val="647085"/>
                </a:solidFill>
                <a:latin typeface="Calibri"/>
                <a:cs typeface="Calibri"/>
              </a:rPr>
              <a:t> </a:t>
            </a:r>
            <a:r>
              <a:rPr sz="4350" spc="-10" dirty="0">
                <a:solidFill>
                  <a:srgbClr val="6E7987"/>
                </a:solidFill>
                <a:latin typeface="Calibri"/>
                <a:cs typeface="Calibri"/>
              </a:rPr>
              <a:t>Online</a:t>
            </a:r>
            <a:endParaRPr sz="4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4350">
              <a:latin typeface="Calibri"/>
              <a:cs typeface="Calibri"/>
            </a:endParaRPr>
          </a:p>
          <a:p>
            <a:pPr marL="14604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solidFill>
                  <a:srgbClr val="0A3667"/>
                </a:solidFill>
                <a:latin typeface="Calibri"/>
                <a:cs typeface="Calibri"/>
              </a:rPr>
              <a:t>Acadêmicos:</a:t>
            </a:r>
            <a:r>
              <a:rPr sz="3200" spc="114" dirty="0">
                <a:solidFill>
                  <a:srgbClr val="0A3667"/>
                </a:solidFill>
                <a:latin typeface="Calibri"/>
                <a:cs typeface="Calibri"/>
              </a:rPr>
              <a:t> </a:t>
            </a:r>
            <a:r>
              <a:rPr sz="3200" spc="50" dirty="0">
                <a:solidFill>
                  <a:srgbClr val="012D5D"/>
                </a:solidFill>
                <a:latin typeface="Calibri"/>
                <a:cs typeface="Calibri"/>
              </a:rPr>
              <a:t>Alexandre,</a:t>
            </a:r>
            <a:r>
              <a:rPr sz="3200" spc="-30" dirty="0">
                <a:solidFill>
                  <a:srgbClr val="012D5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83669"/>
                </a:solidFill>
                <a:latin typeface="Calibri"/>
                <a:cs typeface="Calibri"/>
              </a:rPr>
              <a:t>Alterson,</a:t>
            </a:r>
            <a:r>
              <a:rPr sz="3200" spc="-15" dirty="0">
                <a:solidFill>
                  <a:srgbClr val="083669"/>
                </a:solidFill>
                <a:latin typeface="Calibri"/>
                <a:cs typeface="Calibri"/>
              </a:rPr>
              <a:t> </a:t>
            </a:r>
            <a:r>
              <a:rPr sz="3200" spc="95" dirty="0">
                <a:solidFill>
                  <a:srgbClr val="002164"/>
                </a:solidFill>
                <a:latin typeface="Calibri"/>
                <a:cs typeface="Calibri"/>
              </a:rPr>
              <a:t>Otávio</a:t>
            </a:r>
            <a:r>
              <a:rPr sz="3200" spc="25" dirty="0">
                <a:solidFill>
                  <a:srgbClr val="002164"/>
                </a:solidFill>
                <a:latin typeface="Calibri"/>
                <a:cs typeface="Calibri"/>
              </a:rPr>
              <a:t> </a:t>
            </a:r>
            <a:r>
              <a:rPr sz="3200" spc="125" dirty="0">
                <a:solidFill>
                  <a:srgbClr val="082B66"/>
                </a:solidFill>
                <a:latin typeface="Calibri"/>
                <a:cs typeface="Calibri"/>
              </a:rPr>
              <a:t>e</a:t>
            </a:r>
            <a:r>
              <a:rPr sz="3200" spc="-140" dirty="0">
                <a:solidFill>
                  <a:srgbClr val="082B66"/>
                </a:solidFill>
                <a:latin typeface="Calibri"/>
                <a:cs typeface="Calibri"/>
              </a:rPr>
              <a:t> </a:t>
            </a:r>
            <a:r>
              <a:rPr sz="3200" spc="55" dirty="0">
                <a:solidFill>
                  <a:srgbClr val="002D60"/>
                </a:solidFill>
                <a:latin typeface="Calibri"/>
                <a:cs typeface="Calibri"/>
              </a:rPr>
              <a:t>Rodrigo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6506" y="4452744"/>
            <a:ext cx="149210" cy="43663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23239" y="4452744"/>
            <a:ext cx="149210" cy="436635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104100" cy="133503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30"/>
              </a:spcBef>
            </a:pPr>
            <a:r>
              <a:rPr spc="80" dirty="0">
                <a:solidFill>
                  <a:srgbClr val="032B5D"/>
                </a:solidFill>
              </a:rPr>
              <a:t>Contexto</a:t>
            </a:r>
            <a:r>
              <a:rPr spc="-35" dirty="0">
                <a:solidFill>
                  <a:srgbClr val="032B5D"/>
                </a:solidFill>
              </a:rPr>
              <a:t> </a:t>
            </a:r>
            <a:r>
              <a:rPr spc="90" dirty="0">
                <a:solidFill>
                  <a:srgbClr val="002D60"/>
                </a:solidFill>
              </a:rPr>
              <a:t>e</a:t>
            </a:r>
            <a:r>
              <a:rPr spc="-280" dirty="0">
                <a:solidFill>
                  <a:srgbClr val="002D60"/>
                </a:solidFill>
              </a:rPr>
              <a:t> </a:t>
            </a:r>
            <a:r>
              <a:rPr lang="pt-BR" spc="100" dirty="0">
                <a:solidFill>
                  <a:srgbClr val="052A5B"/>
                </a:solidFill>
              </a:rPr>
              <a:t>Definição </a:t>
            </a:r>
            <a:r>
              <a:rPr spc="190" dirty="0">
                <a:solidFill>
                  <a:srgbClr val="002D5D"/>
                </a:solidFill>
              </a:rPr>
              <a:t>do</a:t>
            </a:r>
            <a:r>
              <a:rPr spc="-415" dirty="0">
                <a:solidFill>
                  <a:srgbClr val="002D5D"/>
                </a:solidFill>
              </a:rPr>
              <a:t> </a:t>
            </a:r>
            <a:r>
              <a:rPr spc="45" dirty="0">
                <a:solidFill>
                  <a:srgbClr val="012B5D"/>
                </a:solidFill>
              </a:rPr>
              <a:t>Problem</a:t>
            </a:r>
            <a:r>
              <a:rPr lang="pt-BR" spc="45" dirty="0">
                <a:solidFill>
                  <a:srgbClr val="012B5D"/>
                </a:solidFill>
              </a:rPr>
              <a:t>a</a:t>
            </a:r>
            <a:endParaRPr spc="45" dirty="0">
              <a:solidFill>
                <a:srgbClr val="012B5D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4850" y="4455481"/>
            <a:ext cx="7103109" cy="3558667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spc="50" dirty="0">
                <a:solidFill>
                  <a:srgbClr val="00A190"/>
                </a:solidFill>
                <a:latin typeface="Calibri"/>
                <a:cs typeface="Calibri"/>
              </a:rPr>
              <a:t>O</a:t>
            </a:r>
            <a:r>
              <a:rPr sz="3850" spc="85" dirty="0">
                <a:solidFill>
                  <a:srgbClr val="00A190"/>
                </a:solidFill>
                <a:latin typeface="Calibri"/>
                <a:cs typeface="Calibri"/>
              </a:rPr>
              <a:t> </a:t>
            </a:r>
            <a:r>
              <a:rPr sz="3850" spc="180" dirty="0">
                <a:solidFill>
                  <a:srgbClr val="03A39E"/>
                </a:solidFill>
                <a:latin typeface="Calibri"/>
                <a:cs typeface="Calibri"/>
              </a:rPr>
              <a:t>D</a:t>
            </a:r>
            <a:r>
              <a:rPr lang="pt-BR" sz="3850" spc="180" dirty="0" err="1">
                <a:solidFill>
                  <a:srgbClr val="03A39E"/>
                </a:solidFill>
                <a:latin typeface="Calibri"/>
                <a:cs typeface="Calibri"/>
              </a:rPr>
              <a:t>esafio</a:t>
            </a:r>
            <a:r>
              <a:rPr sz="3850" spc="240" dirty="0">
                <a:solidFill>
                  <a:srgbClr val="03A39E"/>
                </a:solidFill>
                <a:latin typeface="Calibri"/>
                <a:cs typeface="Calibri"/>
              </a:rPr>
              <a:t> </a:t>
            </a:r>
            <a:r>
              <a:rPr sz="3850" spc="170" dirty="0">
                <a:solidFill>
                  <a:srgbClr val="00AF9A"/>
                </a:solidFill>
                <a:latin typeface="Calibri"/>
                <a:cs typeface="Calibri"/>
              </a:rPr>
              <a:t>Atu</a:t>
            </a:r>
            <a:r>
              <a:rPr lang="pt-BR" sz="3850" spc="170" dirty="0">
                <a:solidFill>
                  <a:srgbClr val="00AF9A"/>
                </a:solidFill>
                <a:latin typeface="Calibri"/>
                <a:cs typeface="Calibri"/>
              </a:rPr>
              <a:t>a</a:t>
            </a:r>
            <a:r>
              <a:rPr sz="3850" spc="170" dirty="0">
                <a:solidFill>
                  <a:srgbClr val="00AF9A"/>
                </a:solidFill>
                <a:latin typeface="Calibri"/>
                <a:cs typeface="Calibri"/>
              </a:rPr>
              <a:t>l</a:t>
            </a:r>
            <a:endParaRPr sz="3850" dirty="0">
              <a:latin typeface="Calibri"/>
              <a:cs typeface="Calibri"/>
            </a:endParaRPr>
          </a:p>
          <a:p>
            <a:pPr marL="14604" marR="5080" indent="3810">
              <a:lnSpc>
                <a:spcPct val="116399"/>
              </a:lnSpc>
              <a:spcBef>
                <a:spcPts val="1700"/>
              </a:spcBef>
            </a:pPr>
            <a:r>
              <a:rPr lang="pt-BR" sz="3100" spc="-145" dirty="0">
                <a:solidFill>
                  <a:srgbClr val="4B4B4B"/>
                </a:solidFill>
                <a:latin typeface="Calibri"/>
                <a:cs typeface="Calibri"/>
              </a:rPr>
              <a:t>Atualmente, muitas instituições de ensino utilizam ferramentas separadas para gerenciar suas atividades acadêmicas, como aplicativos de mensagens, e-mails, planilhas e plataformas distintas para videoconferência.</a:t>
            </a:r>
            <a:endParaRPr sz="3100" spc="-145" dirty="0">
              <a:solidFill>
                <a:srgbClr val="4B4B4B"/>
              </a:solidFill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66450" y="4452744"/>
            <a:ext cx="6911975" cy="5650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5"/>
              </a:spcBef>
            </a:pPr>
            <a:r>
              <a:rPr lang="pt-BR" sz="3850" spc="180" dirty="0">
                <a:solidFill>
                  <a:srgbClr val="03A39E"/>
                </a:solidFill>
                <a:latin typeface="Calibri"/>
                <a:cs typeface="Calibri"/>
              </a:rPr>
              <a:t>Problemas</a:t>
            </a:r>
            <a:endParaRPr sz="3850" spc="180" dirty="0">
              <a:solidFill>
                <a:srgbClr val="03A39E"/>
              </a:solidFill>
              <a:latin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100" spc="-145" dirty="0">
                <a:solidFill>
                  <a:srgbClr val="4B4B4B"/>
                </a:solidFill>
                <a:latin typeface="Calibri"/>
                <a:cs typeface="Calibri"/>
              </a:rPr>
              <a:t>Dificuldade na organização das turmas.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100" spc="-145" dirty="0">
                <a:solidFill>
                  <a:srgbClr val="4B4B4B"/>
                </a:solidFill>
                <a:latin typeface="Calibri"/>
                <a:cs typeface="Calibri"/>
              </a:rPr>
              <a:t>Perda de informações importantes.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100" spc="-145" dirty="0">
                <a:solidFill>
                  <a:srgbClr val="4B4B4B"/>
                </a:solidFill>
                <a:latin typeface="Calibri"/>
                <a:cs typeface="Calibri"/>
              </a:rPr>
              <a:t>Falta de centralização de atividades e avaliações.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100" spc="-145" dirty="0">
                <a:solidFill>
                  <a:srgbClr val="4B4B4B"/>
                </a:solidFill>
                <a:latin typeface="Calibri"/>
                <a:cs typeface="Calibri"/>
              </a:rPr>
              <a:t>Comunicação ineficiente entre professores e alunos.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100" spc="-145" dirty="0">
                <a:solidFill>
                  <a:srgbClr val="4B4B4B"/>
                </a:solidFill>
                <a:latin typeface="Calibri"/>
                <a:cs typeface="Calibri"/>
              </a:rPr>
              <a:t>Maior chance de erros administrativos.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100" spc="-145" dirty="0">
                <a:solidFill>
                  <a:srgbClr val="4B4B4B"/>
                </a:solidFill>
                <a:latin typeface="Calibri"/>
                <a:cs typeface="Calibri"/>
              </a:rPr>
              <a:t>Retrabalho para professores e coordenadores.</a:t>
            </a:r>
          </a:p>
          <a:p>
            <a:pPr marL="12700" marR="5080" indent="3810">
              <a:lnSpc>
                <a:spcPct val="116399"/>
              </a:lnSpc>
              <a:spcBef>
                <a:spcPts val="1755"/>
              </a:spcBef>
            </a:pPr>
            <a:endParaRPr sz="3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38945" y="3533923"/>
            <a:ext cx="8292941" cy="62197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104100" cy="13350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105"/>
              </a:spcBef>
            </a:pPr>
            <a:r>
              <a:rPr sz="6050" spc="215" dirty="0">
                <a:solidFill>
                  <a:srgbClr val="002B57"/>
                </a:solidFill>
              </a:rPr>
              <a:t>Solu</a:t>
            </a:r>
            <a:r>
              <a:rPr lang="pt-BR" sz="6050" spc="215" dirty="0">
                <a:solidFill>
                  <a:srgbClr val="002B57"/>
                </a:solidFill>
              </a:rPr>
              <a:t>ção</a:t>
            </a:r>
            <a:r>
              <a:rPr sz="6050" spc="-110" dirty="0">
                <a:solidFill>
                  <a:srgbClr val="002B57"/>
                </a:solidFill>
              </a:rPr>
              <a:t> </a:t>
            </a:r>
            <a:r>
              <a:rPr sz="6050" spc="75" dirty="0" err="1">
                <a:solidFill>
                  <a:srgbClr val="032B59"/>
                </a:solidFill>
              </a:rPr>
              <a:t>Propost</a:t>
            </a:r>
            <a:r>
              <a:rPr lang="pt-BR" sz="6050" spc="75" dirty="0">
                <a:solidFill>
                  <a:srgbClr val="032B59"/>
                </a:solidFill>
              </a:rPr>
              <a:t>a</a:t>
            </a:r>
            <a:r>
              <a:rPr sz="6050" spc="75" dirty="0">
                <a:solidFill>
                  <a:srgbClr val="032B59"/>
                </a:solidFill>
              </a:rPr>
              <a:t>:</a:t>
            </a:r>
            <a:r>
              <a:rPr sz="6050" spc="-65" dirty="0">
                <a:solidFill>
                  <a:srgbClr val="032B59"/>
                </a:solidFill>
              </a:rPr>
              <a:t> </a:t>
            </a:r>
            <a:r>
              <a:rPr sz="6050" spc="195" dirty="0">
                <a:solidFill>
                  <a:srgbClr val="012D62"/>
                </a:solidFill>
              </a:rPr>
              <a:t>ClossFlow</a:t>
            </a:r>
            <a:endParaRPr sz="6050" dirty="0"/>
          </a:p>
        </p:txBody>
      </p:sp>
      <p:sp>
        <p:nvSpPr>
          <p:cNvPr id="5" name="object 5"/>
          <p:cNvSpPr txBox="1"/>
          <p:nvPr/>
        </p:nvSpPr>
        <p:spPr>
          <a:xfrm>
            <a:off x="1191098" y="3262069"/>
            <a:ext cx="7987665" cy="3637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 marR="5080" indent="-3810">
              <a:lnSpc>
                <a:spcPct val="116399"/>
              </a:lnSpc>
              <a:spcBef>
                <a:spcPts val="100"/>
              </a:spcBef>
            </a:pPr>
            <a:r>
              <a:rPr sz="3100" spc="-120" dirty="0">
                <a:solidFill>
                  <a:srgbClr val="485977"/>
                </a:solidFill>
                <a:latin typeface="Calibri"/>
                <a:cs typeface="Calibri"/>
              </a:rPr>
              <a:t>Um</a:t>
            </a:r>
            <a:r>
              <a:rPr sz="3100" spc="-204" dirty="0">
                <a:solidFill>
                  <a:srgbClr val="485977"/>
                </a:solidFill>
                <a:latin typeface="Calibri"/>
                <a:cs typeface="Calibri"/>
              </a:rPr>
              <a:t> </a:t>
            </a:r>
            <a:r>
              <a:rPr sz="3100" spc="-85" dirty="0">
                <a:solidFill>
                  <a:srgbClr val="4F4F4F"/>
                </a:solidFill>
                <a:latin typeface="Calibri"/>
                <a:cs typeface="Calibri"/>
              </a:rPr>
              <a:t>sistema</a:t>
            </a:r>
            <a:r>
              <a:rPr sz="3100" spc="-12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3100" spc="-120" dirty="0">
                <a:solidFill>
                  <a:srgbClr val="494949"/>
                </a:solidFill>
                <a:latin typeface="Calibri"/>
                <a:cs typeface="Calibri"/>
              </a:rPr>
              <a:t>de</a:t>
            </a:r>
            <a:r>
              <a:rPr sz="3100" spc="-17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100" spc="-110" dirty="0">
                <a:solidFill>
                  <a:srgbClr val="464646"/>
                </a:solidFill>
                <a:latin typeface="Calibri"/>
                <a:cs typeface="Calibri"/>
              </a:rPr>
              <a:t>gestão</a:t>
            </a:r>
            <a:r>
              <a:rPr sz="3100" spc="-13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3100" spc="-95" dirty="0">
                <a:solidFill>
                  <a:srgbClr val="494949"/>
                </a:solidFill>
                <a:latin typeface="Calibri"/>
                <a:cs typeface="Calibri"/>
              </a:rPr>
              <a:t>centralizado,</a:t>
            </a:r>
            <a:r>
              <a:rPr sz="3100" spc="6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100" spc="-100" dirty="0">
                <a:solidFill>
                  <a:srgbClr val="464646"/>
                </a:solidFill>
                <a:latin typeface="Calibri"/>
                <a:cs typeface="Calibri"/>
              </a:rPr>
              <a:t>inspirado</a:t>
            </a:r>
            <a:r>
              <a:rPr sz="3100" spc="-6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545454"/>
                </a:solidFill>
                <a:latin typeface="Calibri"/>
                <a:cs typeface="Calibri"/>
              </a:rPr>
              <a:t>em </a:t>
            </a:r>
            <a:r>
              <a:rPr sz="3100" spc="-120" dirty="0">
                <a:solidFill>
                  <a:srgbClr val="484848"/>
                </a:solidFill>
                <a:latin typeface="Calibri"/>
                <a:cs typeface="Calibri"/>
              </a:rPr>
              <a:t>plataformas</a:t>
            </a:r>
            <a:r>
              <a:rPr sz="3100" spc="3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3100" spc="-75" dirty="0">
                <a:solidFill>
                  <a:srgbClr val="414141"/>
                </a:solidFill>
                <a:latin typeface="Calibri"/>
                <a:cs typeface="Calibri"/>
              </a:rPr>
              <a:t>Iíderes,</a:t>
            </a:r>
            <a:r>
              <a:rPr sz="3100" spc="-125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3100" spc="-155" dirty="0">
                <a:solidFill>
                  <a:srgbClr val="4D4D4D"/>
                </a:solidFill>
                <a:latin typeface="Calibri"/>
                <a:cs typeface="Calibri"/>
              </a:rPr>
              <a:t>focado</a:t>
            </a:r>
            <a:r>
              <a:rPr sz="3100" spc="-1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100" spc="-114" dirty="0" err="1">
                <a:solidFill>
                  <a:srgbClr val="4F4F4F"/>
                </a:solidFill>
                <a:latin typeface="Calibri"/>
                <a:cs typeface="Calibri"/>
              </a:rPr>
              <a:t>na</a:t>
            </a:r>
            <a:r>
              <a:rPr sz="3100" spc="-33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3100" spc="-20" dirty="0" err="1">
                <a:solidFill>
                  <a:srgbClr val="4F4F4F"/>
                </a:solidFill>
                <a:latin typeface="Calibri"/>
                <a:cs typeface="Calibri"/>
              </a:rPr>
              <a:t>unifica</a:t>
            </a:r>
            <a:r>
              <a:rPr lang="pt-BR" sz="3100" spc="-20" dirty="0" err="1">
                <a:solidFill>
                  <a:srgbClr val="4F4F4F"/>
                </a:solidFill>
                <a:latin typeface="Calibri"/>
                <a:cs typeface="Calibri"/>
              </a:rPr>
              <a:t>çã</a:t>
            </a:r>
            <a:r>
              <a:rPr sz="3100" spc="-20" dirty="0">
                <a:solidFill>
                  <a:srgbClr val="4F4F4F"/>
                </a:solidFill>
                <a:latin typeface="Calibri"/>
                <a:cs typeface="Calibri"/>
              </a:rPr>
              <a:t>o</a:t>
            </a:r>
            <a:r>
              <a:rPr sz="3100" spc="-3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2526D"/>
                </a:solidFill>
                <a:latin typeface="Calibri"/>
                <a:cs typeface="Calibri"/>
              </a:rPr>
              <a:t>da</a:t>
            </a:r>
            <a:r>
              <a:rPr sz="3100" spc="-200" dirty="0">
                <a:solidFill>
                  <a:srgbClr val="42526D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4F4F4F"/>
                </a:solidFill>
                <a:latin typeface="Calibri"/>
                <a:cs typeface="Calibri"/>
              </a:rPr>
              <a:t>jornada </a:t>
            </a:r>
            <a:r>
              <a:rPr sz="3100" spc="-10" dirty="0">
                <a:solidFill>
                  <a:srgbClr val="485669"/>
                </a:solidFill>
                <a:latin typeface="Calibri"/>
                <a:cs typeface="Calibri"/>
              </a:rPr>
              <a:t>acad</a:t>
            </a:r>
            <a:r>
              <a:rPr lang="pt-BR" sz="3100" spc="-10" dirty="0">
                <a:solidFill>
                  <a:srgbClr val="485669"/>
                </a:solidFill>
                <a:latin typeface="Calibri"/>
                <a:cs typeface="Calibri"/>
              </a:rPr>
              <a:t>ê</a:t>
            </a:r>
            <a:r>
              <a:rPr sz="3100" spc="-10" dirty="0">
                <a:solidFill>
                  <a:srgbClr val="485669"/>
                </a:solidFill>
                <a:latin typeface="Calibri"/>
                <a:cs typeface="Calibri"/>
              </a:rPr>
              <a:t>mica.</a:t>
            </a:r>
            <a:endParaRPr sz="3100" dirty="0">
              <a:latin typeface="Calibri"/>
              <a:cs typeface="Calibri"/>
            </a:endParaRPr>
          </a:p>
          <a:p>
            <a:pPr marL="375920" indent="-363220">
              <a:lnSpc>
                <a:spcPct val="100000"/>
              </a:lnSpc>
              <a:spcBef>
                <a:spcPts val="3080"/>
              </a:spcBef>
              <a:buClr>
                <a:srgbClr val="42566E"/>
              </a:buClr>
              <a:buChar char="•"/>
              <a:tabLst>
                <a:tab pos="375920" algn="l"/>
              </a:tabLst>
            </a:pPr>
            <a:r>
              <a:rPr sz="3100" spc="-65" dirty="0">
                <a:solidFill>
                  <a:srgbClr val="414141"/>
                </a:solidFill>
                <a:latin typeface="Calibri"/>
                <a:cs typeface="Calibri"/>
              </a:rPr>
              <a:t>Centralização</a:t>
            </a:r>
            <a:r>
              <a:rPr sz="3100" spc="-80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3100" spc="-120" dirty="0">
                <a:solidFill>
                  <a:srgbClr val="464646"/>
                </a:solidFill>
                <a:latin typeface="Calibri"/>
                <a:cs typeface="Calibri"/>
              </a:rPr>
              <a:t>de</a:t>
            </a:r>
            <a:r>
              <a:rPr sz="3100" spc="-17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3100" spc="-95" dirty="0">
                <a:solidFill>
                  <a:srgbClr val="444444"/>
                </a:solidFill>
                <a:latin typeface="Calibri"/>
                <a:cs typeface="Calibri"/>
              </a:rPr>
              <a:t>entregas</a:t>
            </a:r>
            <a:r>
              <a:rPr sz="3100" spc="-2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100" spc="-130" dirty="0">
                <a:solidFill>
                  <a:srgbClr val="484848"/>
                </a:solidFill>
                <a:latin typeface="Calibri"/>
                <a:cs typeface="Calibri"/>
              </a:rPr>
              <a:t>e</a:t>
            </a:r>
            <a:r>
              <a:rPr sz="3100" spc="-14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424242"/>
                </a:solidFill>
                <a:latin typeface="Calibri"/>
                <a:cs typeface="Calibri"/>
              </a:rPr>
              <a:t>avaliações.</a:t>
            </a:r>
            <a:endParaRPr sz="3100" dirty="0">
              <a:latin typeface="Calibri"/>
              <a:cs typeface="Calibri"/>
            </a:endParaRPr>
          </a:p>
          <a:p>
            <a:pPr marL="375920" indent="-363220">
              <a:lnSpc>
                <a:spcPct val="100000"/>
              </a:lnSpc>
              <a:spcBef>
                <a:spcPts val="610"/>
              </a:spcBef>
              <a:buClr>
                <a:srgbClr val="41566E"/>
              </a:buClr>
              <a:buChar char="•"/>
              <a:tabLst>
                <a:tab pos="375920" algn="l"/>
              </a:tabLst>
            </a:pPr>
            <a:r>
              <a:rPr sz="3100" spc="-65" dirty="0">
                <a:solidFill>
                  <a:srgbClr val="444444"/>
                </a:solidFill>
                <a:latin typeface="Calibri"/>
                <a:cs typeface="Calibri"/>
              </a:rPr>
              <a:t>Criação</a:t>
            </a:r>
            <a:r>
              <a:rPr sz="3100" spc="-8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100" spc="-150" dirty="0">
                <a:solidFill>
                  <a:srgbClr val="444444"/>
                </a:solidFill>
                <a:latin typeface="Calibri"/>
                <a:cs typeface="Calibri"/>
              </a:rPr>
              <a:t>de</a:t>
            </a:r>
            <a:r>
              <a:rPr sz="3100" spc="-9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100" spc="-110" dirty="0">
                <a:solidFill>
                  <a:srgbClr val="4D4D4D"/>
                </a:solidFill>
                <a:latin typeface="Calibri"/>
                <a:cs typeface="Calibri"/>
              </a:rPr>
              <a:t>acervo</a:t>
            </a:r>
            <a:r>
              <a:rPr sz="3100" spc="-10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100" spc="-75" dirty="0">
                <a:solidFill>
                  <a:srgbClr val="444444"/>
                </a:solidFill>
                <a:latin typeface="Calibri"/>
                <a:cs typeface="Calibri"/>
              </a:rPr>
              <a:t>histórico</a:t>
            </a:r>
            <a:r>
              <a:rPr sz="3100" spc="-5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100" spc="-125" dirty="0">
                <a:solidFill>
                  <a:srgbClr val="4D4D4D"/>
                </a:solidFill>
                <a:latin typeface="Calibri"/>
                <a:cs typeface="Calibri"/>
              </a:rPr>
              <a:t>por</a:t>
            </a:r>
            <a:r>
              <a:rPr sz="3100" spc="-11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494949"/>
                </a:solidFill>
                <a:latin typeface="Calibri"/>
                <a:cs typeface="Calibri"/>
              </a:rPr>
              <a:t>aluno.</a:t>
            </a:r>
            <a:endParaRPr sz="3100" dirty="0">
              <a:latin typeface="Calibri"/>
              <a:cs typeface="Calibri"/>
            </a:endParaRPr>
          </a:p>
          <a:p>
            <a:pPr marL="375920" indent="-363220">
              <a:lnSpc>
                <a:spcPct val="100000"/>
              </a:lnSpc>
              <a:spcBef>
                <a:spcPts val="610"/>
              </a:spcBef>
              <a:buClr>
                <a:srgbClr val="44546B"/>
              </a:buClr>
              <a:buChar char="•"/>
              <a:tabLst>
                <a:tab pos="375920" algn="l"/>
              </a:tabLst>
            </a:pPr>
            <a:r>
              <a:rPr sz="3100" spc="-85" dirty="0">
                <a:solidFill>
                  <a:srgbClr val="494949"/>
                </a:solidFill>
                <a:latin typeface="Calibri"/>
                <a:cs typeface="Calibri"/>
              </a:rPr>
              <a:t>Construção</a:t>
            </a:r>
            <a:r>
              <a:rPr sz="3100" spc="-9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100" spc="-150" dirty="0">
                <a:solidFill>
                  <a:srgbClr val="495662"/>
                </a:solidFill>
                <a:latin typeface="Calibri"/>
                <a:cs typeface="Calibri"/>
              </a:rPr>
              <a:t>de</a:t>
            </a:r>
            <a:r>
              <a:rPr sz="3100" spc="-140" dirty="0">
                <a:solidFill>
                  <a:srgbClr val="495662"/>
                </a:solidFill>
                <a:latin typeface="Calibri"/>
                <a:cs typeface="Calibri"/>
              </a:rPr>
              <a:t> </a:t>
            </a:r>
            <a:r>
              <a:rPr sz="3100" spc="-75" dirty="0">
                <a:solidFill>
                  <a:srgbClr val="414141"/>
                </a:solidFill>
                <a:latin typeface="Calibri"/>
                <a:cs typeface="Calibri"/>
              </a:rPr>
              <a:t>repositório</a:t>
            </a:r>
            <a:r>
              <a:rPr sz="3100" spc="-55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3100" spc="-120" dirty="0">
                <a:solidFill>
                  <a:srgbClr val="4D4D4D"/>
                </a:solidFill>
                <a:latin typeface="Calibri"/>
                <a:cs typeface="Calibri"/>
              </a:rPr>
              <a:t>por</a:t>
            </a:r>
            <a:r>
              <a:rPr sz="3100" spc="-15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464646"/>
                </a:solidFill>
                <a:latin typeface="Calibri"/>
                <a:cs typeface="Calibri"/>
              </a:rPr>
              <a:t>matéria.</a:t>
            </a:r>
            <a:endParaRPr sz="3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335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052A57"/>
                </a:solidFill>
              </a:rPr>
              <a:t>Prioridades</a:t>
            </a:r>
            <a:r>
              <a:rPr spc="665" dirty="0">
                <a:solidFill>
                  <a:srgbClr val="052A57"/>
                </a:solidFill>
              </a:rPr>
              <a:t> </a:t>
            </a:r>
            <a:r>
              <a:rPr spc="245" dirty="0">
                <a:solidFill>
                  <a:srgbClr val="002B60"/>
                </a:solidFill>
              </a:rPr>
              <a:t>de</a:t>
            </a:r>
            <a:r>
              <a:rPr spc="-295" dirty="0">
                <a:solidFill>
                  <a:srgbClr val="002B60"/>
                </a:solidFill>
              </a:rPr>
              <a:t> </a:t>
            </a:r>
            <a:r>
              <a:rPr spc="130" dirty="0">
                <a:solidFill>
                  <a:srgbClr val="052A57"/>
                </a:solidFill>
              </a:rPr>
              <a:t>Desenvolvimento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8250" y="3597275"/>
            <a:ext cx="7901305" cy="452046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74675">
              <a:lnSpc>
                <a:spcPct val="100000"/>
              </a:lnSpc>
              <a:spcBef>
                <a:spcPts val="90"/>
              </a:spcBef>
            </a:pPr>
            <a:r>
              <a:rPr sz="4000" dirty="0">
                <a:solidFill>
                  <a:srgbClr val="00AAA1"/>
                </a:solidFill>
                <a:latin typeface="Calibri"/>
                <a:cs typeface="Calibri"/>
              </a:rPr>
              <a:t>Alt</a:t>
            </a:r>
            <a:r>
              <a:rPr lang="pt-BR" sz="4000" dirty="0">
                <a:solidFill>
                  <a:srgbClr val="00AAA1"/>
                </a:solidFill>
                <a:latin typeface="Calibri"/>
                <a:cs typeface="Calibri"/>
              </a:rPr>
              <a:t>a</a:t>
            </a:r>
            <a:r>
              <a:rPr sz="4000" spc="240" dirty="0">
                <a:solidFill>
                  <a:srgbClr val="00AAA1"/>
                </a:solidFill>
                <a:latin typeface="Calibri"/>
                <a:cs typeface="Calibri"/>
              </a:rPr>
              <a:t> </a:t>
            </a:r>
            <a:r>
              <a:rPr sz="4000" spc="85" dirty="0" err="1">
                <a:solidFill>
                  <a:srgbClr val="05A1A1"/>
                </a:solidFill>
                <a:latin typeface="Calibri"/>
                <a:cs typeface="Calibri"/>
              </a:rPr>
              <a:t>Prioridade</a:t>
            </a:r>
            <a:br>
              <a:rPr lang="pt-BR" sz="4000" spc="85" dirty="0">
                <a:solidFill>
                  <a:srgbClr val="05A1A1"/>
                </a:solidFill>
                <a:latin typeface="Calibri"/>
                <a:cs typeface="Calibri"/>
              </a:rPr>
            </a:br>
            <a:r>
              <a:rPr sz="2550" spc="-55" dirty="0" err="1">
                <a:solidFill>
                  <a:srgbClr val="444444"/>
                </a:solidFill>
                <a:latin typeface="Calibri"/>
                <a:cs typeface="Calibri"/>
              </a:rPr>
              <a:t>Visão</a:t>
            </a:r>
            <a:r>
              <a:rPr sz="2550" spc="-18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550" spc="-105" dirty="0">
                <a:solidFill>
                  <a:srgbClr val="4F4F4F"/>
                </a:solidFill>
                <a:latin typeface="Calibri"/>
                <a:cs typeface="Calibri"/>
              </a:rPr>
              <a:t>do</a:t>
            </a:r>
            <a:r>
              <a:rPr sz="2550" spc="-21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550" spc="-100" dirty="0">
                <a:solidFill>
                  <a:srgbClr val="3D3D3D"/>
                </a:solidFill>
                <a:latin typeface="Calibri"/>
                <a:cs typeface="Calibri"/>
              </a:rPr>
              <a:t>Produto,</a:t>
            </a:r>
            <a:r>
              <a:rPr sz="2550" spc="1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550" spc="-114" dirty="0">
                <a:solidFill>
                  <a:srgbClr val="424242"/>
                </a:solidFill>
                <a:latin typeface="Calibri"/>
                <a:cs typeface="Calibri"/>
              </a:rPr>
              <a:t>Stakeholders,</a:t>
            </a:r>
            <a:r>
              <a:rPr sz="2550" spc="9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550" spc="-95" dirty="0">
                <a:solidFill>
                  <a:srgbClr val="3B3B3B"/>
                </a:solidFill>
                <a:latin typeface="Calibri"/>
                <a:cs typeface="Calibri"/>
              </a:rPr>
              <a:t>Regras</a:t>
            </a:r>
            <a:r>
              <a:rPr sz="2550" spc="-7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50" spc="-90" dirty="0">
                <a:solidFill>
                  <a:srgbClr val="505050"/>
                </a:solidFill>
                <a:latin typeface="Calibri"/>
                <a:cs typeface="Calibri"/>
              </a:rPr>
              <a:t>de</a:t>
            </a:r>
            <a:r>
              <a:rPr sz="2550" spc="-290" dirty="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sz="2550" spc="-110" dirty="0">
                <a:solidFill>
                  <a:srgbClr val="484848"/>
                </a:solidFill>
                <a:latin typeface="Calibri"/>
                <a:cs typeface="Calibri"/>
              </a:rPr>
              <a:t>Negócio,</a:t>
            </a:r>
            <a:r>
              <a:rPr sz="2550" spc="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550" spc="-85" dirty="0">
                <a:solidFill>
                  <a:srgbClr val="444444"/>
                </a:solidFill>
                <a:latin typeface="Calibri"/>
                <a:cs typeface="Calibri"/>
              </a:rPr>
              <a:t>User </a:t>
            </a:r>
            <a:r>
              <a:rPr sz="2550" spc="-10" dirty="0">
                <a:solidFill>
                  <a:srgbClr val="444444"/>
                </a:solidFill>
                <a:latin typeface="Calibri"/>
                <a:cs typeface="Calibri"/>
              </a:rPr>
              <a:t>Stories, </a:t>
            </a:r>
            <a:r>
              <a:rPr sz="2550" spc="-120" dirty="0">
                <a:solidFill>
                  <a:srgbClr val="4F4F4F"/>
                </a:solidFill>
                <a:latin typeface="Calibri"/>
                <a:cs typeface="Calibri"/>
              </a:rPr>
              <a:t>MVP,</a:t>
            </a:r>
            <a:r>
              <a:rPr sz="2550" spc="-14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525252"/>
                </a:solidFill>
                <a:latin typeface="Calibri"/>
                <a:cs typeface="Calibri"/>
              </a:rPr>
              <a:t>BPMN</a:t>
            </a:r>
            <a:r>
              <a:rPr sz="2550" spc="-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550" spc="-20" dirty="0">
                <a:solidFill>
                  <a:srgbClr val="464646"/>
                </a:solidFill>
                <a:latin typeface="Calibri"/>
                <a:cs typeface="Calibri"/>
              </a:rPr>
              <a:t>e</a:t>
            </a:r>
            <a:r>
              <a:rPr sz="2550" spc="-33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550" spc="-20" dirty="0">
                <a:solidFill>
                  <a:srgbClr val="484848"/>
                </a:solidFill>
                <a:latin typeface="Calibri"/>
                <a:cs typeface="Calibri"/>
              </a:rPr>
              <a:t>UML.</a:t>
            </a:r>
            <a:endParaRPr sz="25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2550" dirty="0">
              <a:latin typeface="Calibri"/>
              <a:cs typeface="Calibri"/>
            </a:endParaRPr>
          </a:p>
          <a:p>
            <a:pPr marL="556260">
              <a:lnSpc>
                <a:spcPct val="100000"/>
              </a:lnSpc>
            </a:pPr>
            <a:r>
              <a:rPr sz="4000" dirty="0">
                <a:solidFill>
                  <a:srgbClr val="019C9A"/>
                </a:solidFill>
                <a:latin typeface="Calibri"/>
                <a:cs typeface="Calibri"/>
              </a:rPr>
              <a:t>Médi</a:t>
            </a:r>
            <a:r>
              <a:rPr lang="pt-BR" sz="4000" dirty="0">
                <a:solidFill>
                  <a:srgbClr val="019C9A"/>
                </a:solidFill>
                <a:latin typeface="Calibri"/>
                <a:cs typeface="Calibri"/>
              </a:rPr>
              <a:t>a </a:t>
            </a:r>
            <a:r>
              <a:rPr sz="4000" spc="85" dirty="0" err="1">
                <a:solidFill>
                  <a:srgbClr val="00A89C"/>
                </a:solidFill>
                <a:latin typeface="Calibri"/>
                <a:cs typeface="Calibri"/>
              </a:rPr>
              <a:t>Prioridade</a:t>
            </a:r>
            <a:br>
              <a:rPr lang="pt-BR" sz="4000" spc="85" dirty="0">
                <a:solidFill>
                  <a:srgbClr val="00A89C"/>
                </a:solidFill>
                <a:latin typeface="Calibri"/>
                <a:cs typeface="Calibri"/>
              </a:rPr>
            </a:br>
            <a:r>
              <a:rPr sz="2450" spc="-40" dirty="0" err="1">
                <a:solidFill>
                  <a:srgbClr val="494949"/>
                </a:solidFill>
                <a:latin typeface="Calibri"/>
                <a:cs typeface="Calibri"/>
              </a:rPr>
              <a:t>Arquitetura</a:t>
            </a:r>
            <a:r>
              <a:rPr sz="2450" spc="-40" dirty="0">
                <a:solidFill>
                  <a:srgbClr val="494949"/>
                </a:solidFill>
                <a:latin typeface="Calibri"/>
                <a:cs typeface="Calibri"/>
              </a:rPr>
              <a:t>,</a:t>
            </a:r>
            <a:r>
              <a:rPr sz="24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3F3F3F"/>
                </a:solidFill>
                <a:latin typeface="Calibri"/>
                <a:cs typeface="Calibri"/>
              </a:rPr>
              <a:t>Modelagem</a:t>
            </a:r>
            <a:r>
              <a:rPr sz="245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50" spc="85" dirty="0">
                <a:solidFill>
                  <a:srgbClr val="4B4B4B"/>
                </a:solidFill>
                <a:latin typeface="Calibri"/>
                <a:cs typeface="Calibri"/>
              </a:rPr>
              <a:t>C4</a:t>
            </a:r>
            <a:r>
              <a:rPr sz="2450" spc="-27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4B4B4B"/>
                </a:solidFill>
                <a:latin typeface="Calibri"/>
                <a:cs typeface="Calibri"/>
              </a:rPr>
              <a:t>e</a:t>
            </a:r>
            <a:r>
              <a:rPr sz="2450" spc="-28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494949"/>
                </a:solidFill>
                <a:latin typeface="Calibri"/>
                <a:cs typeface="Calibri"/>
              </a:rPr>
              <a:t>Configuração</a:t>
            </a:r>
            <a:r>
              <a:rPr sz="2450" spc="-1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4D4D4D"/>
                </a:solidFill>
                <a:latin typeface="Calibri"/>
                <a:cs typeface="Calibri"/>
              </a:rPr>
              <a:t>do</a:t>
            </a:r>
            <a:r>
              <a:rPr sz="2450" spc="-21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lang="pt-BR" sz="2450" spc="-10" dirty="0">
                <a:solidFill>
                  <a:srgbClr val="3F3F3F"/>
                </a:solidFill>
                <a:latin typeface="Calibri"/>
                <a:cs typeface="Calibri"/>
              </a:rPr>
              <a:t>GitHub</a:t>
            </a:r>
            <a:r>
              <a:rPr sz="2450" spc="-10" dirty="0">
                <a:solidFill>
                  <a:srgbClr val="3F3F3F"/>
                </a:solidFill>
                <a:latin typeface="Calibri"/>
                <a:cs typeface="Calibri"/>
              </a:rPr>
              <a:t>.</a:t>
            </a:r>
            <a:endParaRPr lang="pt-BR" sz="2450" spc="-10" dirty="0">
              <a:solidFill>
                <a:srgbClr val="3F3F3F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4000" spc="135" dirty="0">
                <a:solidFill>
                  <a:srgbClr val="03A197"/>
                </a:solidFill>
                <a:latin typeface="Calibri"/>
                <a:cs typeface="Calibri"/>
              </a:rPr>
              <a:t>   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4000" spc="135" dirty="0">
                <a:solidFill>
                  <a:srgbClr val="03A197"/>
                </a:solidFill>
                <a:latin typeface="Calibri"/>
                <a:cs typeface="Calibri"/>
              </a:rPr>
              <a:t>    Baixa</a:t>
            </a:r>
            <a:r>
              <a:rPr lang="pt-BR" sz="4000" spc="105" dirty="0">
                <a:solidFill>
                  <a:srgbClr val="03A197"/>
                </a:solidFill>
                <a:latin typeface="Calibri"/>
                <a:cs typeface="Calibri"/>
              </a:rPr>
              <a:t> </a:t>
            </a:r>
            <a:r>
              <a:rPr lang="pt-BR" sz="4000" spc="85" dirty="0">
                <a:solidFill>
                  <a:srgbClr val="00AA9C"/>
                </a:solidFill>
                <a:latin typeface="Calibri"/>
                <a:cs typeface="Calibri"/>
              </a:rPr>
              <a:t>Prioridade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2450" spc="-40" dirty="0">
                <a:solidFill>
                  <a:srgbClr val="494949"/>
                </a:solidFill>
                <a:latin typeface="Calibri"/>
                <a:cs typeface="Calibri"/>
              </a:rPr>
              <a:t>         Implementação de IA, Gamificação e Expansão para Mobile</a:t>
            </a:r>
            <a:endParaRPr sz="2450" spc="-40" dirty="0">
              <a:solidFill>
                <a:srgbClr val="494949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33503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spc="75" dirty="0">
                <a:solidFill>
                  <a:srgbClr val="052A57"/>
                </a:solidFill>
              </a:rPr>
              <a:t>Fluxo</a:t>
            </a:r>
            <a:r>
              <a:rPr spc="-215" dirty="0">
                <a:solidFill>
                  <a:srgbClr val="052A57"/>
                </a:solidFill>
              </a:rPr>
              <a:t> </a:t>
            </a:r>
            <a:r>
              <a:rPr spc="245" dirty="0">
                <a:solidFill>
                  <a:srgbClr val="002B60"/>
                </a:solidFill>
              </a:rPr>
              <a:t>de</a:t>
            </a:r>
            <a:r>
              <a:rPr spc="-175" dirty="0">
                <a:solidFill>
                  <a:srgbClr val="002B60"/>
                </a:solidFill>
              </a:rPr>
              <a:t> </a:t>
            </a:r>
            <a:r>
              <a:rPr spc="130" dirty="0">
                <a:solidFill>
                  <a:srgbClr val="012D5B"/>
                </a:solidFill>
              </a:rPr>
              <a:t>Trabalho</a:t>
            </a:r>
            <a:r>
              <a:rPr spc="135" dirty="0">
                <a:solidFill>
                  <a:srgbClr val="012D5B"/>
                </a:solidFill>
              </a:rPr>
              <a:t> </a:t>
            </a:r>
            <a:r>
              <a:rPr spc="90" dirty="0">
                <a:solidFill>
                  <a:srgbClr val="002F60"/>
                </a:solidFill>
              </a:rPr>
              <a:t>-</a:t>
            </a:r>
            <a:r>
              <a:rPr spc="650" dirty="0">
                <a:solidFill>
                  <a:srgbClr val="002F60"/>
                </a:solidFill>
              </a:rPr>
              <a:t> </a:t>
            </a:r>
            <a:r>
              <a:rPr lang="pt-BR" spc="175" dirty="0">
                <a:solidFill>
                  <a:srgbClr val="012D59"/>
                </a:solidFill>
              </a:rPr>
              <a:t>GitHub</a:t>
            </a:r>
            <a:endParaRPr spc="175" dirty="0">
              <a:solidFill>
                <a:srgbClr val="012D59"/>
              </a:solidFill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36A0BD76-3A72-CF0D-2C40-552608B46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591" y="2378075"/>
            <a:ext cx="16432918" cy="757343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95547" y="3306426"/>
            <a:ext cx="15820390" cy="3918585"/>
          </a:xfrm>
          <a:prstGeom prst="rect">
            <a:avLst/>
          </a:prstGeom>
        </p:spPr>
        <p:txBody>
          <a:bodyPr vert="horz" wrap="square" lIns="0" tIns="101091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959"/>
              </a:spcBef>
            </a:pPr>
            <a:r>
              <a:rPr sz="12750" spc="105" dirty="0">
                <a:solidFill>
                  <a:srgbClr val="012D5D"/>
                </a:solidFill>
              </a:rPr>
              <a:t>Arquitetura</a:t>
            </a:r>
            <a:r>
              <a:rPr sz="12750" spc="-35" dirty="0">
                <a:solidFill>
                  <a:srgbClr val="012D5D"/>
                </a:solidFill>
              </a:rPr>
              <a:t> </a:t>
            </a:r>
            <a:r>
              <a:rPr sz="12750" spc="265" dirty="0">
                <a:solidFill>
                  <a:srgbClr val="012D5D"/>
                </a:solidFill>
              </a:rPr>
              <a:t>do</a:t>
            </a:r>
            <a:r>
              <a:rPr sz="12750" spc="-700" dirty="0">
                <a:solidFill>
                  <a:srgbClr val="012D5D"/>
                </a:solidFill>
              </a:rPr>
              <a:t> </a:t>
            </a:r>
            <a:r>
              <a:rPr sz="12750" spc="220" dirty="0" err="1">
                <a:solidFill>
                  <a:srgbClr val="012D5D"/>
                </a:solidFill>
              </a:rPr>
              <a:t>Sistem</a:t>
            </a:r>
            <a:r>
              <a:rPr lang="pt-BR" sz="12750" spc="220" dirty="0">
                <a:solidFill>
                  <a:srgbClr val="012D5D"/>
                </a:solidFill>
              </a:rPr>
              <a:t>a</a:t>
            </a:r>
            <a:endParaRPr sz="12750" dirty="0"/>
          </a:p>
          <a:p>
            <a:pPr marL="57785" algn="ctr">
              <a:lnSpc>
                <a:spcPct val="100000"/>
              </a:lnSpc>
              <a:spcBef>
                <a:spcPts val="2565"/>
              </a:spcBef>
            </a:pPr>
            <a:r>
              <a:rPr sz="4100" spc="85" dirty="0">
                <a:solidFill>
                  <a:srgbClr val="69758A"/>
                </a:solidFill>
              </a:rPr>
              <a:t>Visão</a:t>
            </a:r>
            <a:r>
              <a:rPr sz="4100" spc="65" dirty="0">
                <a:solidFill>
                  <a:srgbClr val="69758A"/>
                </a:solidFill>
              </a:rPr>
              <a:t> </a:t>
            </a:r>
            <a:r>
              <a:rPr sz="4100" dirty="0">
                <a:solidFill>
                  <a:srgbClr val="697587"/>
                </a:solidFill>
              </a:rPr>
              <a:t>Técnica</a:t>
            </a:r>
            <a:r>
              <a:rPr sz="4100" spc="-130" dirty="0">
                <a:solidFill>
                  <a:srgbClr val="697587"/>
                </a:solidFill>
              </a:rPr>
              <a:t> </a:t>
            </a:r>
            <a:r>
              <a:rPr sz="4100" spc="120" dirty="0">
                <a:solidFill>
                  <a:srgbClr val="6D798E"/>
                </a:solidFill>
              </a:rPr>
              <a:t>e</a:t>
            </a:r>
            <a:r>
              <a:rPr sz="4100" spc="-190" dirty="0">
                <a:solidFill>
                  <a:srgbClr val="6D798E"/>
                </a:solidFill>
              </a:rPr>
              <a:t> </a:t>
            </a:r>
            <a:r>
              <a:rPr sz="4100" spc="85" dirty="0">
                <a:solidFill>
                  <a:srgbClr val="6B7C97"/>
                </a:solidFill>
              </a:rPr>
              <a:t>Decisões</a:t>
            </a:r>
            <a:r>
              <a:rPr sz="4100" spc="90" dirty="0">
                <a:solidFill>
                  <a:srgbClr val="6B7C97"/>
                </a:solidFill>
              </a:rPr>
              <a:t> </a:t>
            </a:r>
            <a:r>
              <a:rPr sz="4100" spc="60" dirty="0">
                <a:solidFill>
                  <a:srgbClr val="6B7582"/>
                </a:solidFill>
              </a:rPr>
              <a:t>de</a:t>
            </a:r>
            <a:r>
              <a:rPr sz="4100" spc="-50" dirty="0">
                <a:solidFill>
                  <a:srgbClr val="6B7582"/>
                </a:solidFill>
              </a:rPr>
              <a:t> </a:t>
            </a:r>
            <a:r>
              <a:rPr sz="4100" spc="55" dirty="0">
                <a:solidFill>
                  <a:srgbClr val="677483"/>
                </a:solidFill>
              </a:rPr>
              <a:t>Projeto</a:t>
            </a:r>
            <a:endParaRPr sz="4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33503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8DB10DB-6DFB-3EF2-2819-3FFA8DC95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850" y="701675"/>
            <a:ext cx="7900130" cy="1021039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80622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AA9532DE-7CC5-CD21-3597-8757D68EF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824" y="1858326"/>
            <a:ext cx="11544451" cy="759269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335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spc="130" dirty="0" err="1">
                <a:solidFill>
                  <a:srgbClr val="052A57"/>
                </a:solidFill>
              </a:rPr>
              <a:t>Decis</a:t>
            </a:r>
            <a:r>
              <a:rPr lang="pt-BR" spc="130" dirty="0">
                <a:solidFill>
                  <a:srgbClr val="052A57"/>
                </a:solidFill>
              </a:rPr>
              <a:t>õ</a:t>
            </a:r>
            <a:r>
              <a:rPr spc="130" dirty="0">
                <a:solidFill>
                  <a:srgbClr val="052A57"/>
                </a:solidFill>
              </a:rPr>
              <a:t>es</a:t>
            </a:r>
            <a:r>
              <a:rPr spc="204" dirty="0">
                <a:solidFill>
                  <a:srgbClr val="052A57"/>
                </a:solidFill>
              </a:rPr>
              <a:t> </a:t>
            </a:r>
            <a:r>
              <a:rPr spc="70" dirty="0" err="1"/>
              <a:t>Arquitetur</a:t>
            </a:r>
            <a:r>
              <a:rPr lang="pt-BR" spc="70" dirty="0"/>
              <a:t>a</a:t>
            </a:r>
            <a:r>
              <a:rPr spc="70" dirty="0"/>
              <a:t>is:</a:t>
            </a:r>
            <a:r>
              <a:rPr spc="-565" dirty="0"/>
              <a:t> </a:t>
            </a:r>
            <a:r>
              <a:rPr spc="415" dirty="0">
                <a:solidFill>
                  <a:srgbClr val="032B60"/>
                </a:solidFill>
              </a:rPr>
              <a:t>Camadas</a:t>
            </a:r>
            <a:r>
              <a:rPr spc="220" dirty="0">
                <a:solidFill>
                  <a:srgbClr val="032B60"/>
                </a:solidFill>
              </a:rPr>
              <a:t> </a:t>
            </a:r>
            <a:r>
              <a:rPr spc="395" dirty="0">
                <a:solidFill>
                  <a:srgbClr val="012D5D"/>
                </a:solidFill>
              </a:rPr>
              <a:t>e</a:t>
            </a:r>
            <a:r>
              <a:rPr spc="-590" dirty="0">
                <a:solidFill>
                  <a:srgbClr val="012D5D"/>
                </a:solidFill>
              </a:rPr>
              <a:t> </a:t>
            </a:r>
            <a:r>
              <a:rPr spc="-10" dirty="0">
                <a:solidFill>
                  <a:srgbClr val="052A54"/>
                </a:solidFill>
              </a:rPr>
              <a:t>Perfis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63038" y="2314222"/>
            <a:ext cx="8603812" cy="205825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0" spc="-130" dirty="0">
                <a:solidFill>
                  <a:srgbClr val="0CA79E"/>
                </a:solidFill>
                <a:latin typeface="Calibri"/>
                <a:cs typeface="Calibri"/>
              </a:rPr>
              <a:t>DAO</a:t>
            </a:r>
            <a:r>
              <a:rPr lang="pt-BR" sz="4000" spc="-130" dirty="0">
                <a:solidFill>
                  <a:srgbClr val="0CA79E"/>
                </a:solidFill>
                <a:latin typeface="Calibri"/>
                <a:cs typeface="Calibri"/>
              </a:rPr>
              <a:t>1</a:t>
            </a:r>
            <a:r>
              <a:rPr sz="4000" spc="-130" dirty="0">
                <a:solidFill>
                  <a:srgbClr val="0CA79E"/>
                </a:solidFill>
                <a:latin typeface="Calibri"/>
                <a:cs typeface="Calibri"/>
              </a:rPr>
              <a:t>:</a:t>
            </a:r>
            <a:r>
              <a:rPr sz="4000" spc="-80" dirty="0">
                <a:solidFill>
                  <a:srgbClr val="0CA79E"/>
                </a:solidFill>
                <a:latin typeface="Calibri"/>
                <a:cs typeface="Calibri"/>
              </a:rPr>
              <a:t> </a:t>
            </a:r>
            <a:r>
              <a:rPr sz="4000" spc="360" dirty="0">
                <a:solidFill>
                  <a:srgbClr val="00A397"/>
                </a:solidFill>
                <a:latin typeface="Calibri"/>
                <a:cs typeface="Calibri"/>
              </a:rPr>
              <a:t>Cama</a:t>
            </a:r>
            <a:r>
              <a:rPr lang="pt-BR" sz="4000" spc="360" dirty="0">
                <a:solidFill>
                  <a:srgbClr val="00A397"/>
                </a:solidFill>
                <a:latin typeface="Calibri"/>
                <a:cs typeface="Calibri"/>
              </a:rPr>
              <a:t>d</a:t>
            </a:r>
            <a:r>
              <a:rPr sz="4000" spc="360" dirty="0">
                <a:solidFill>
                  <a:srgbClr val="00A397"/>
                </a:solidFill>
                <a:latin typeface="Calibri"/>
                <a:cs typeface="Calibri"/>
              </a:rPr>
              <a:t>as</a:t>
            </a:r>
            <a:br>
              <a:rPr lang="pt-BR" sz="4000" spc="360" dirty="0">
                <a:solidFill>
                  <a:srgbClr val="00A397"/>
                </a:solidFill>
                <a:latin typeface="Calibri"/>
                <a:cs typeface="Calibri"/>
              </a:rPr>
            </a:br>
            <a:r>
              <a:rPr lang="pt-BR" sz="3100" spc="-80" dirty="0">
                <a:solidFill>
                  <a:srgbClr val="494949"/>
                </a:solidFill>
                <a:latin typeface="Calibri"/>
                <a:cs typeface="Calibri"/>
              </a:rPr>
              <a:t>Melhora a clareza da solução e permite evoluir o sistema sem misturar interface, regras de negócio e persistência de dados.</a:t>
            </a:r>
            <a:endParaRPr sz="3100" spc="-80" dirty="0">
              <a:solidFill>
                <a:srgbClr val="494949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63037" y="4611975"/>
            <a:ext cx="9442012" cy="25353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0"/>
              </a:spcBef>
            </a:pPr>
            <a:r>
              <a:rPr sz="4000" spc="-130" dirty="0">
                <a:solidFill>
                  <a:srgbClr val="0CA79E"/>
                </a:solidFill>
                <a:latin typeface="Calibri"/>
                <a:cs typeface="Calibri"/>
              </a:rPr>
              <a:t>DAO2: </a:t>
            </a:r>
            <a:r>
              <a:rPr sz="4000" spc="-130" dirty="0" err="1">
                <a:solidFill>
                  <a:srgbClr val="0CA79E"/>
                </a:solidFill>
                <a:latin typeface="Calibri"/>
                <a:cs typeface="Calibri"/>
              </a:rPr>
              <a:t>Perfis</a:t>
            </a:r>
            <a:r>
              <a:rPr sz="4000" spc="-130" dirty="0">
                <a:solidFill>
                  <a:srgbClr val="0CA79E"/>
                </a:solidFill>
                <a:latin typeface="Calibri"/>
                <a:cs typeface="Calibri"/>
              </a:rPr>
              <a:t> de</a:t>
            </a:r>
            <a:r>
              <a:rPr lang="pt-BR" sz="4000" spc="-130" dirty="0">
                <a:solidFill>
                  <a:srgbClr val="0CA79E"/>
                </a:solidFill>
                <a:latin typeface="Calibri"/>
                <a:cs typeface="Calibri"/>
              </a:rPr>
              <a:t> </a:t>
            </a:r>
            <a:r>
              <a:rPr sz="4000" spc="-130" dirty="0" err="1">
                <a:solidFill>
                  <a:srgbClr val="0CA79E"/>
                </a:solidFill>
                <a:latin typeface="Calibri"/>
                <a:cs typeface="Calibri"/>
              </a:rPr>
              <a:t>Acesso</a:t>
            </a:r>
            <a:br>
              <a:rPr lang="pt-BR" sz="4000" spc="-130" dirty="0">
                <a:solidFill>
                  <a:srgbClr val="0CA79E"/>
                </a:solidFill>
                <a:latin typeface="Calibri"/>
                <a:cs typeface="Calibri"/>
              </a:rPr>
            </a:br>
            <a:r>
              <a:rPr lang="pt-BR" sz="3100" spc="-80" dirty="0">
                <a:solidFill>
                  <a:srgbClr val="494949"/>
                </a:solidFill>
                <a:latin typeface="Calibri"/>
                <a:cs typeface="Calibri"/>
              </a:rPr>
              <a:t>Diferentes usuários possuem permissões diferentes. Por exemplo, apenas professores podem criar atividades, estudantes podem entregar atividades e administradores podem gerenciar usuários.</a:t>
            </a:r>
            <a:endParaRPr sz="3100" spc="-80" dirty="0">
              <a:solidFill>
                <a:srgbClr val="494949"/>
              </a:solidFill>
              <a:latin typeface="Calibri"/>
              <a:cs typeface="Calibri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9981235-F96E-E94A-0C96-65052A8EDFB8}"/>
              </a:ext>
            </a:extLst>
          </p:cNvPr>
          <p:cNvSpPr txBox="1"/>
          <p:nvPr/>
        </p:nvSpPr>
        <p:spPr>
          <a:xfrm>
            <a:off x="5563037" y="7386781"/>
            <a:ext cx="9442012" cy="2596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0"/>
              </a:spcBef>
            </a:pPr>
            <a:r>
              <a:rPr sz="4000" spc="-130" dirty="0">
                <a:solidFill>
                  <a:srgbClr val="0CA79E"/>
                </a:solidFill>
                <a:latin typeface="Calibri"/>
                <a:cs typeface="Calibri"/>
              </a:rPr>
              <a:t>DAO</a:t>
            </a:r>
            <a:r>
              <a:rPr lang="pt-BR" sz="4000" spc="-130" dirty="0">
                <a:solidFill>
                  <a:srgbClr val="0CA79E"/>
                </a:solidFill>
                <a:latin typeface="Calibri"/>
                <a:cs typeface="Calibri"/>
              </a:rPr>
              <a:t>3</a:t>
            </a:r>
            <a:r>
              <a:rPr sz="4000" spc="-130" dirty="0">
                <a:solidFill>
                  <a:srgbClr val="0CA79E"/>
                </a:solidFill>
                <a:latin typeface="Calibri"/>
                <a:cs typeface="Calibri"/>
              </a:rPr>
              <a:t>: </a:t>
            </a:r>
            <a:r>
              <a:rPr lang="pt-BR" sz="4000" spc="-130" dirty="0">
                <a:solidFill>
                  <a:srgbClr val="0CA79E"/>
                </a:solidFill>
                <a:latin typeface="Calibri"/>
                <a:cs typeface="Calibri"/>
              </a:rPr>
              <a:t>Notificações</a:t>
            </a:r>
            <a:br>
              <a:rPr lang="pt-BR" sz="4000" spc="-130" dirty="0">
                <a:solidFill>
                  <a:srgbClr val="0CA79E"/>
                </a:solidFill>
                <a:latin typeface="Calibri"/>
                <a:cs typeface="Calibri"/>
              </a:rPr>
            </a:br>
            <a:r>
              <a:rPr lang="pt-BR" sz="3100" spc="-80" dirty="0" err="1">
                <a:solidFill>
                  <a:srgbClr val="494949"/>
                </a:solidFill>
                <a:latin typeface="Calibri"/>
                <a:cs typeface="Calibri"/>
              </a:rPr>
              <a:t>Notificações</a:t>
            </a:r>
            <a:r>
              <a:rPr lang="pt-BR" sz="3100" spc="-80" dirty="0">
                <a:solidFill>
                  <a:srgbClr val="494949"/>
                </a:solidFill>
                <a:latin typeface="Calibri"/>
                <a:cs typeface="Calibri"/>
              </a:rPr>
              <a:t> não precisam bloquear o uso principal do sistema. Ao separar essa responsabilidade, a plataforma continua funcionando mesmo se o envio de notificações atrasar ou falhar temporariamente</a:t>
            </a:r>
            <a:r>
              <a:rPr lang="pt-BR" sz="3200" dirty="0"/>
              <a:t>.</a:t>
            </a:r>
            <a:endParaRPr sz="3100" spc="-80" dirty="0">
              <a:solidFill>
                <a:srgbClr val="494949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317</Words>
  <Application>Microsoft Office PowerPoint</Application>
  <PresentationFormat>Personalizar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Arial MT</vt:lpstr>
      <vt:lpstr>Calibri</vt:lpstr>
      <vt:lpstr>Office Theme</vt:lpstr>
      <vt:lpstr>ClassFlow</vt:lpstr>
      <vt:lpstr>Contexto e Definição do Problema</vt:lpstr>
      <vt:lpstr>Solução Proposta: ClossFlow</vt:lpstr>
      <vt:lpstr>Prioridades de Desenvolvimento</vt:lpstr>
      <vt:lpstr>Fluxo de Trabalho - GitHub</vt:lpstr>
      <vt:lpstr>Arquitetura do Sistema Visão Técnica e Decisões de Projeto</vt:lpstr>
      <vt:lpstr>Apresentação do PowerPoint</vt:lpstr>
      <vt:lpstr>Apresentação do PowerPoint</vt:lpstr>
      <vt:lpstr>Decisões Arquiteturais: Camadas e Perfis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Otávio Nhoato</dc:creator>
  <cp:lastModifiedBy>Otávio Cozer Gnoatto</cp:lastModifiedBy>
  <cp:revision>2</cp:revision>
  <dcterms:created xsi:type="dcterms:W3CDTF">2026-06-26T17:24:22Z</dcterms:created>
  <dcterms:modified xsi:type="dcterms:W3CDTF">2026-06-26T18:17:51Z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2026-06-26T00:00:00Z</vt:filetime>
  </property>
  <property fmtid="{D5CDD505-2E9C-101B-9397-08002B2CF9AE}" pid="4" name="LastSaved">
    <vt:filetime>2026-06-26T00:00:00Z</vt:filetime>
  </property>
</Properties>
</file>