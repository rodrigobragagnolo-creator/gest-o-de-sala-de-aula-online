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72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20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curta: dizer que o ClassFlow centraliza o ciclo de sala de aula online: turma, atividade, entrega, correção, nota e notificação.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em 1 a 2 minutos. Não explicar cada funcionalidade em detalhe: o ponto é mostrar que o escopo foi controlado.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as regras rapidamente. O objetivo é mostrar que todas foram consideradas. Depois aprofundar só em duas.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70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Dizer que o projeto não trata todos os usuários como iguais. Esse slide prepara as regras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ler tudo palavra por palavra. Passar pelas histórias e reforçar que os critérios dão limite objetivo para aceitar a funcionalidade.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preparar o terreno para a funcionalidade inovadora no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em sequência:
DA01 — “Escolhemos camadas porque o sistema é uma aplicação web tradicional, com regras claras. A separação facilita a manutenção.”
DA02 — “Não basta login. O sistema valida o perfil e também o vínculo com a turma. Isso atende as regras de criação de turma e correção.”
DA03 — “Notificações foram separadas para não atrasar a publicação de atividade ou correção. Depois seria possível adicionar e-mail e push sem mudar o núcleo do sistema.”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mais tempo aqui. Apontar o fluxo principal e explicar que os gateways representam as regras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exemplos de caminhos bloqueados: prazo vencido, aluno duplicado, usuário sem permissão.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Defender que camadas foi uma decisão adequada ao tamanho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entrar em banco ou API aqui. C4 nível 1 é visão de negócio/contexto.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 C4 nível 2 justifica a decisão arquitetural e mostra onde cada responsabilidade 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mais atenção a esse slide. Conectar com a US09 e com a arquitetura em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retomando a coerência geral.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3334D"/>
                </a:solidFill>
              </a:rPr>
              <a:t>ClassFlow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58952" y="21762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42424"/>
                </a:solidFill>
              </a:rPr>
              <a:t>Sistema de Gestão de Sala de Aula Online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52360" y="1097280"/>
            <a:ext cx="33832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4112" y="1444752"/>
            <a:ext cx="2788920" cy="548640"/>
          </a:xfrm>
          <a:prstGeom prst="roundRect">
            <a:avLst>
              <a:gd name="adj" fmla="val 8333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62763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Turma: Modelagem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18120" y="233172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9F9F9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2432304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424"/>
                </a:solidFill>
              </a:rPr>
              <a:t>Atividade publicada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18120" y="2862072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9F9F9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962656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424"/>
                </a:solidFill>
              </a:rPr>
              <a:t>Entrega enviada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18120" y="3392424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FF6D9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493008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424"/>
                </a:solidFill>
              </a:rPr>
              <a:t>Correção em andamento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18120" y="3922776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9F9F9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4023360"/>
            <a:ext cx="228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424"/>
                </a:solidFill>
              </a:rPr>
              <a:t>Nota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68096" y="598932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96969"/>
                </a:solidFill>
              </a:rPr>
              <a:t>Grupo: Alexandre Mayer • Alterson Alberto • Otávio Cozer • Rodrigo Bragagnolo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3334D"/>
                </a:solidFill>
              </a:rPr>
              <a:t>1. Visão do Produto e MVP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728216"/>
            <a:ext cx="30083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Problema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Uso de ferramentas separadas para mensagens, entregas, notas e acompanhamento.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728216"/>
            <a:ext cx="30083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Público-alvo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Alunos, professores, coordenadores e administradores da instituição.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160020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728216"/>
            <a:ext cx="30083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Objetivo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Centralizar a rotina acadêmica em um fluxo simples de acompanhar.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334D"/>
                </a:solidFill>
              </a:rPr>
              <a:t>MVP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4069080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419709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424"/>
                </a:solidFill>
              </a:rPr>
              <a:t>Cadastro e login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0" y="4069080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419709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424"/>
                </a:solidFill>
              </a:rPr>
              <a:t>Criar turma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46520" y="4069080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419709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424"/>
                </a:solidFill>
              </a:rPr>
              <a:t>Entrar em turma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35440" y="4069080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419709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424"/>
                </a:solidFill>
              </a:rPr>
              <a:t>Publicar atividade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472744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485546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424"/>
                </a:solidFill>
              </a:rPr>
              <a:t>Entregar atividade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0" y="472744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485546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424"/>
                </a:solidFill>
              </a:rPr>
              <a:t>Corrigir atividade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46520" y="472744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1112" y="485546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424"/>
                </a:solidFill>
              </a:rPr>
              <a:t>Lançar notas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35440" y="472744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00032" y="485546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42424"/>
                </a:solidFill>
              </a:rPr>
              <a:t>Notificações básicas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3334D"/>
                </a:solidFill>
              </a:rPr>
              <a:t>2. Regras de Negócio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550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72768" y="15910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3334D"/>
                </a:solidFill>
              </a:rPr>
              <a:t>Criação de turmas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86200" y="1591056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</a:rPr>
              <a:t>Apenas Professor ou Administrador pode criar turmas.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19456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5F7F5A"/>
          </a:solidFill>
          <a:ln w="12700">
            <a:solidFill>
              <a:srgbClr val="5F7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27685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72768" y="2212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3334D"/>
                </a:solidFill>
              </a:rPr>
              <a:t>Prazo de entrega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86200" y="221284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</a:rPr>
              <a:t>Alunos só entregam atividades até a data limite.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2816352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898648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72768" y="2834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3334D"/>
                </a:solidFill>
              </a:rPr>
              <a:t>Correção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86200" y="2834640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</a:rPr>
              <a:t>Apenas o Professor da turma pode corrigir atividades.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34381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5F7F5A"/>
          </a:solidFill>
          <a:ln w="12700">
            <a:solidFill>
              <a:srgbClr val="5F7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520440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RN04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572768" y="34564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3334D"/>
                </a:solidFill>
              </a:rPr>
              <a:t>Relatórios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86200" y="3456432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</a:rPr>
              <a:t>Apenas Coordenadores podem visualizar relatórios.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4059936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42232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RN05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572768" y="40782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3334D"/>
                </a:solidFill>
              </a:rPr>
              <a:t>Notificações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886200" y="4078224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</a:rPr>
              <a:t>O sistema envia avisos em alterações de atividade ou status.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77240" y="4681728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5F7F5A"/>
          </a:solidFill>
          <a:ln w="12700">
            <a:solidFill>
              <a:srgbClr val="5F7F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476402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RN06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72768" y="4700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3334D"/>
                </a:solidFill>
              </a:rPr>
              <a:t>Entrega única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886200" y="4700016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</a:rPr>
              <a:t>Cada aluno possui apenas uma entrega por atividade.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7240" y="530352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" y="538581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RN07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572768" y="53218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3334D"/>
                </a:solidFill>
              </a:rPr>
              <a:t>Autenticação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886200" y="532180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424"/>
                </a:solidFill>
              </a:rPr>
              <a:t>Usuários precisam estar autenticados para acessar o sistema.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617564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23334D"/>
                </a:solidFill>
              </a:rPr>
              <a:t>Atores</a:t>
            </a:r>
            <a:r>
              <a:rPr lang="en-US" sz="2500" b="1" dirty="0">
                <a:solidFill>
                  <a:srgbClr val="23334D"/>
                </a:solidFill>
              </a:rPr>
              <a:t> e funcionalidades principais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2970008"/>
            <a:ext cx="22402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098024"/>
            <a:ext cx="19110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Aluno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entra em turmas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entrega atividades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consulta notas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502152" y="2970008"/>
            <a:ext cx="2240280" cy="1143000"/>
          </a:xfrm>
          <a:prstGeom prst="roundRect">
            <a:avLst>
              <a:gd name="adj" fmla="val 4800"/>
            </a:avLst>
          </a:prstGeom>
          <a:solidFill>
            <a:srgbClr val="FFF6D9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3098024"/>
            <a:ext cx="19110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Professor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cria turmas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publica atividades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corrige entregas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6318504" y="2970008"/>
            <a:ext cx="22402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3098024"/>
            <a:ext cx="19110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Coordenador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acompanha turmas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visualiza relatórios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9134856" y="2970008"/>
            <a:ext cx="22402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9448" y="3098024"/>
            <a:ext cx="19110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Administrador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gerencia usuários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e permissões</a:t>
            </a:r>
            <a:endParaRPr lang="en-US" sz="12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824" y="293375"/>
            <a:ext cx="5752352" cy="627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5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3334D"/>
                </a:solidFill>
              </a:rPr>
              <a:t>User Stories — parte 1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421832" y="2001821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4984" y="2084117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53352" y="2020109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334D"/>
                </a:solidFill>
              </a:rPr>
              <a:t>Professor cria turmas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1832" y="2824781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4984" y="2907077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53352" y="2843069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334D"/>
                </a:solidFill>
              </a:rPr>
              <a:t>Professor publica atividades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1832" y="3647741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4984" y="3730037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53352" y="3666029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334D"/>
                </a:solidFill>
              </a:rPr>
              <a:t>Aluno entra em turma por código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21832" y="4470701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4984" y="4552997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US04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53352" y="4488989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334D"/>
                </a:solidFill>
              </a:rPr>
              <a:t>Aluno envia atividade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21832" y="5293661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4984" y="5375957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US05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53352" y="5311949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334D"/>
                </a:solidFill>
              </a:rPr>
              <a:t>Professor corrige atividades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3334D"/>
                </a:solidFill>
              </a:rPr>
              <a:t>User Stories — parte 2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341146" y="2075331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5F7F5A"/>
          </a:solidFill>
          <a:ln w="12700">
            <a:solidFill>
              <a:srgbClr val="5F7F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4298" y="2157627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US06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72666" y="2093619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334D"/>
                </a:solidFill>
              </a:rPr>
              <a:t>Aluno visualiza notas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41146" y="3035451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5F7F5A"/>
          </a:solidFill>
          <a:ln w="12700">
            <a:solidFill>
              <a:srgbClr val="5F7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4298" y="3117747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US07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72666" y="3053739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334D"/>
                </a:solidFill>
              </a:rPr>
              <a:t>Coordenador gera relatórios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41146" y="3995571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5F7F5A"/>
          </a:solidFill>
          <a:ln w="12700">
            <a:solidFill>
              <a:srgbClr val="5F7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4298" y="4077867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US08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72666" y="4013859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334D"/>
                </a:solidFill>
              </a:rPr>
              <a:t>Aluno recebe notificações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41146" y="4955691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A45044"/>
          </a:solidFill>
          <a:ln w="12700">
            <a:solidFill>
              <a:srgbClr val="A450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4298" y="5037987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US09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72666" y="4973979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334D"/>
                </a:solidFill>
              </a:rPr>
              <a:t>Professor recebe sugestão de feedback por 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14298" y="5422035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42424"/>
                </a:solidFill>
              </a:rPr>
              <a:t>IA como apoio; nota final confirmada pelo professor; edição livre; nada vai ao aluno sem revisão humana</a:t>
            </a:r>
            <a:endParaRPr lang="en-US" sz="11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334D"/>
                </a:solidFill>
              </a:rPr>
              <a:t>Decisões arquiteturais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3493008" cy="2944368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847088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947672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</a:rPr>
              <a:t>DA01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1764792" y="1847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23334D"/>
                </a:solidFill>
              </a:rPr>
              <a:t>Arquitetura em camadas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905256" y="2340864"/>
            <a:ext cx="3054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23334D"/>
                </a:solidFill>
              </a:rPr>
              <a:t>Decisão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905256" y="2505456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42424"/>
                </a:solidFill>
              </a:rPr>
              <a:t>Separar interface, API, regras de domínio e persistência.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905256" y="2953512"/>
            <a:ext cx="3054096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3072384"/>
            <a:ext cx="3054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23334D"/>
                </a:solidFill>
              </a:rPr>
              <a:t>Por que foi escolhida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905256" y="324612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42424"/>
                </a:solidFill>
              </a:rPr>
              <a:t>O ClassFlow tem fluxos previsíveis e regras claras, como turmas, atividades, entregas e correções.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905256" y="3785616"/>
            <a:ext cx="3054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23334D"/>
                </a:solidFill>
              </a:rPr>
              <a:t>Impacto prático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905256" y="395935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42424"/>
                </a:solidFill>
              </a:rPr>
              <a:t>Facilita manutenção e evita misturar tela, regra de negócio e banco de dados.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352544" y="1645920"/>
            <a:ext cx="3493008" cy="2944368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3712" y="1847088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5F7F5A"/>
          </a:solidFill>
          <a:ln w="12700">
            <a:solidFill>
              <a:srgbClr val="5F7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1947672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</a:rPr>
              <a:t>DA02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431536" y="1847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23334D"/>
                </a:solidFill>
              </a:rPr>
              <a:t>Controle de acesso por perfil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4572000" y="2340864"/>
            <a:ext cx="3054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23334D"/>
                </a:solidFill>
              </a:rPr>
              <a:t>Decisão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4572000" y="2505456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42424"/>
                </a:solidFill>
              </a:rPr>
              <a:t>Autenticação com permissões para estudante, professor, coordenador e administrador.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4572000" y="2953512"/>
            <a:ext cx="3054096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072384"/>
            <a:ext cx="3054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23334D"/>
                </a:solidFill>
              </a:rPr>
              <a:t>Por que foi escolhida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4572000" y="324612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42424"/>
                </a:solidFill>
              </a:rPr>
              <a:t>Os perfis executam ações diferentes: criar turma, entregar atividade, corrigir e consultar relatórios.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4572000" y="3785616"/>
            <a:ext cx="3054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23334D"/>
                </a:solidFill>
              </a:rPr>
              <a:t>Impacto prático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4572000" y="395935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42424"/>
                </a:solidFill>
              </a:rPr>
              <a:t>Atende RN01 e RN03 e reduz ações indevidas dentro do sistema.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8019288" y="1645920"/>
            <a:ext cx="3493008" cy="2944368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0456" y="1847088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2F6FAE"/>
          </a:solidFill>
          <a:ln w="12700">
            <a:solidFill>
              <a:srgbClr val="2F6F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1947672"/>
            <a:ext cx="5852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</a:rPr>
              <a:t>DA03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9098280" y="1847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23334D"/>
                </a:solidFill>
              </a:rPr>
              <a:t>Notificações assíncronas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8238744" y="2340864"/>
            <a:ext cx="3054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23334D"/>
                </a:solidFill>
              </a:rPr>
              <a:t>Decisão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8238744" y="2505456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42424"/>
                </a:solidFill>
              </a:rPr>
              <a:t>Usar um serviço separado para avisos de atividades, prazos, correções e comunicados.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238744" y="2953512"/>
            <a:ext cx="3054096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38744" y="3072384"/>
            <a:ext cx="3054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23334D"/>
                </a:solidFill>
              </a:rPr>
              <a:t>Por que foi escolhida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8238744" y="324612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42424"/>
                </a:solidFill>
              </a:rPr>
              <a:t>O envio de aviso não deve travar a criação de uma atividade ou a correção de uma entrega.</a:t>
            </a:r>
            <a:endParaRPr lang="en-US" sz="1060" dirty="0"/>
          </a:p>
        </p:txBody>
      </p:sp>
      <p:sp>
        <p:nvSpPr>
          <p:cNvPr id="38" name="Text 36"/>
          <p:cNvSpPr/>
          <p:nvPr/>
        </p:nvSpPr>
        <p:spPr>
          <a:xfrm>
            <a:off x="8238744" y="3785616"/>
            <a:ext cx="3054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23334D"/>
                </a:solidFill>
              </a:rPr>
              <a:t>Impacto prático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8238744" y="395935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42424"/>
                </a:solidFill>
              </a:rPr>
              <a:t>Menor acoplamento e possibilidade de evoluir para e-mail, push ou aviso interno.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2447005" y="51846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2424"/>
                </a:solidFill>
              </a:rPr>
              <a:t>DA01 organiza a solução. DA02 garante quem pode fazer cada ação. DA03 melhora a comunicação sem deixar o fluxo principal mais lento.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3334D"/>
                </a:solidFill>
              </a:rPr>
              <a:t>3. Processo de negócio — BPMN principal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04088" y="1170432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6969"/>
                </a:solidFill>
              </a:rPr>
              <a:t>Fluxo de turma, atividade, entrega, correção, nota e notificação.</a:t>
            </a:r>
            <a:endParaRPr lang="en-US" sz="1050" dirty="0"/>
          </a:p>
        </p:txBody>
      </p:sp>
      <p:pic>
        <p:nvPicPr>
          <p:cNvPr id="7" name="Image 0" descr="/mnt/data/proj3/Gest-o-de-Sala-de-Aula-Online-main/bpmn/regras-negocio-sala-online-camunda 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31" y="1463040"/>
            <a:ext cx="10142897" cy="36393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5486400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5614416"/>
            <a:ext cx="10186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Leitura do fluxo: professor cria turma e publica atividade; aluno entra, entrega dentro das regras; sistema registra, notifica e apoia a consulta; professor corrige e libera nota/feedback.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3334D"/>
                </a:solidFill>
              </a:rPr>
              <a:t>BPMN: pontos de validação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04088" y="1170432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6969"/>
                </a:solidFill>
              </a:rPr>
              <a:t>Onde as regras aparecem no processo.</a:t>
            </a:r>
            <a:endParaRPr lang="en-US" sz="1050" dirty="0"/>
          </a:p>
        </p:txBody>
      </p:sp>
      <p:pic>
        <p:nvPicPr>
          <p:cNvPr id="7" name="Image 0" descr="/mnt/data/classflow_assets/bpmn_profes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77145"/>
            <a:ext cx="5394960" cy="657791"/>
          </a:xfrm>
          <a:prstGeom prst="rect">
            <a:avLst/>
          </a:prstGeom>
        </p:spPr>
      </p:pic>
      <p:pic>
        <p:nvPicPr>
          <p:cNvPr id="8" name="Image 1" descr="/mnt/data/classflow_assets/bpmn_alu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250905"/>
            <a:ext cx="5349240" cy="71027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7240" y="402336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FFF6D9"/>
          </a:solidFill>
          <a:ln w="12700">
            <a:solidFill>
              <a:srgbClr val="E5C56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41832" y="4151376"/>
            <a:ext cx="4928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42424"/>
                </a:solidFill>
              </a:rPr>
              <a:t>Professor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2424"/>
                </a:solidFill>
              </a:rPr>
              <a:t>RN01 e RN03 bloqueiam ações de criação/correção quando o perfil ou vínculo não confere.</a:t>
            </a:r>
            <a:endParaRPr lang="en-US" sz="1320" dirty="0"/>
          </a:p>
        </p:txBody>
      </p:sp>
      <p:sp>
        <p:nvSpPr>
          <p:cNvPr id="11" name="Shape 7"/>
          <p:cNvSpPr/>
          <p:nvPr/>
        </p:nvSpPr>
        <p:spPr>
          <a:xfrm>
            <a:off x="6355080" y="4023360"/>
            <a:ext cx="5074920" cy="731520"/>
          </a:xfrm>
          <a:prstGeom prst="roundRect">
            <a:avLst>
              <a:gd name="adj" fmla="val 7500"/>
            </a:avLst>
          </a:prstGeom>
          <a:solidFill>
            <a:srgbClr val="EAF2FB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19672" y="4151376"/>
            <a:ext cx="4745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42424"/>
                </a:solidFill>
              </a:rPr>
              <a:t>Aluno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42424"/>
                </a:solidFill>
              </a:rPr>
              <a:t>RN02 e RN06 verificam prazo e limite de entrega antes de registrar a atividade.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3334D"/>
                </a:solidFill>
              </a:rPr>
              <a:t>4. Arquitetura da solução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04088" y="1170432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6969"/>
                </a:solidFill>
              </a:rPr>
              <a:t>Escolha: arquitetura em camadas.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48132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609344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Apresentação — Frontend Web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383280" y="1975104"/>
            <a:ext cx="0" cy="164592"/>
          </a:xfrm>
          <a:prstGeom prst="line">
            <a:avLst/>
          </a:prstGeom>
          <a:noFill/>
          <a:ln w="127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0120" y="219456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32257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Aplicação / API — requisições e casos de uso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3383280" y="2688336"/>
            <a:ext cx="0" cy="164592"/>
          </a:xfrm>
          <a:prstGeom prst="line">
            <a:avLst/>
          </a:prstGeom>
          <a:noFill/>
          <a:ln w="127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60120" y="290779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FF6D9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035808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Domínio — regras de negócio e permissões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3383280" y="3401568"/>
            <a:ext cx="0" cy="164592"/>
          </a:xfrm>
          <a:prstGeom prst="line">
            <a:avLst/>
          </a:prstGeom>
          <a:noFill/>
          <a:ln w="127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0120" y="3621024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3749040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Persistência — banco de dados e histórico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3383280" y="4114800"/>
            <a:ext cx="0" cy="164592"/>
          </a:xfrm>
          <a:prstGeom prst="line">
            <a:avLst/>
          </a:prstGeom>
          <a:noFill/>
          <a:ln w="127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" y="4334256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4462272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42424"/>
                </a:solidFill>
              </a:rPr>
              <a:t>Serviços auxiliares — notificações e IA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446520" y="1691640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20" dirty="0">
                <a:solidFill>
                  <a:srgbClr val="242424"/>
                </a:solidFill>
              </a:rPr>
              <a:t>Separação clara entre interface, regras e dados.</a:t>
            </a:r>
            <a:endParaRPr lang="en-US" sz="1320" dirty="0"/>
          </a:p>
          <a:p>
            <a:r>
              <a:rPr lang="en-US" sz="1320" dirty="0">
                <a:solidFill>
                  <a:srgbClr val="242424"/>
                </a:solidFill>
              </a:rPr>
              <a:t>Baixa complexidade para o MVP e para a equipe.</a:t>
            </a:r>
            <a:endParaRPr lang="en-US" sz="1320" dirty="0"/>
          </a:p>
          <a:p>
            <a:r>
              <a:rPr lang="en-US" sz="1320" dirty="0">
                <a:solidFill>
                  <a:srgbClr val="242424"/>
                </a:solidFill>
              </a:rPr>
              <a:t>Facilita manutenção e testes das regras de negócio.</a:t>
            </a:r>
            <a:endParaRPr lang="en-US" sz="1320" dirty="0"/>
          </a:p>
          <a:p>
            <a:r>
              <a:rPr lang="en-US" sz="1320" dirty="0">
                <a:solidFill>
                  <a:srgbClr val="242424"/>
                </a:solidFill>
              </a:rPr>
              <a:t>Notificações e IA podem evoluir como módulos separados.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6446520" y="4617720"/>
            <a:ext cx="4526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4745736"/>
            <a:ext cx="4197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2424"/>
                </a:solidFill>
              </a:rPr>
              <a:t>Por que </a:t>
            </a:r>
            <a:r>
              <a:rPr lang="en-US" sz="1300" dirty="0" err="1">
                <a:solidFill>
                  <a:srgbClr val="242424"/>
                </a:solidFill>
              </a:rPr>
              <a:t>não</a:t>
            </a:r>
            <a:r>
              <a:rPr lang="en-US" sz="1300" dirty="0">
                <a:solidFill>
                  <a:srgbClr val="242424"/>
                </a:solidFill>
              </a:rPr>
              <a:t> </a:t>
            </a:r>
            <a:r>
              <a:rPr lang="en-US" sz="1300" dirty="0" err="1">
                <a:solidFill>
                  <a:srgbClr val="242424"/>
                </a:solidFill>
              </a:rPr>
              <a:t>microserviços</a:t>
            </a:r>
            <a:r>
              <a:rPr lang="en-US" sz="1300" dirty="0">
                <a:solidFill>
                  <a:srgbClr val="242424"/>
                </a:solidFill>
              </a:rPr>
              <a:t>?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42424"/>
                </a:solidFill>
              </a:rPr>
              <a:t>Para o MVP, aumentaria esforço de infraestrutura e integração sem ganho proporcional.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3334D"/>
                </a:solidFill>
              </a:rPr>
              <a:t>C4 — Nível 1: Contexto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04088" y="1170432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6969"/>
                </a:solidFill>
              </a:rPr>
              <a:t>Visão externa do sistema.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29400" y="1920240"/>
            <a:ext cx="4389120" cy="688489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93992" y="2048256"/>
            <a:ext cx="405993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</a:rPr>
              <a:t>O foco é mostrar quem usa o sistema e quais interações externas existem.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29400" y="3886200"/>
            <a:ext cx="4389120" cy="1325880"/>
          </a:xfrm>
          <a:prstGeom prst="roundRect">
            <a:avLst>
              <a:gd name="adj" fmla="val 4138"/>
            </a:avLst>
          </a:prstGeom>
          <a:solidFill>
            <a:srgbClr val="FFF6D9"/>
          </a:solidFill>
          <a:ln w="12700">
            <a:solidFill>
              <a:srgbClr val="E5C5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93992" y="4014216"/>
            <a:ext cx="40599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</a:rPr>
              <a:t>Ligação com requisitos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2424"/>
                </a:solidFill>
              </a:rPr>
              <a:t>Os quatro perfis do sistema exigem autenticação, permissões e separação de responsabilidades.</a:t>
            </a:r>
            <a:endParaRPr lang="en-US" sz="1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AFE12B3-5CF0-8E61-5949-5B77C7943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386" y="1417320"/>
            <a:ext cx="3642678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3334D"/>
                </a:solidFill>
              </a:rPr>
              <a:t>C4 — Nível 2: Containers</a:t>
            </a:r>
            <a:endParaRPr lang="en-US" sz="2500" dirty="0"/>
          </a:p>
        </p:txBody>
      </p:sp>
      <p:pic>
        <p:nvPicPr>
          <p:cNvPr id="7" name="Image 0" descr="/mnt/data/proj3/Gest-o-de-Sala-de-Aula-Online-main/c4/C4 - N#U00edvel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32405"/>
            <a:ext cx="5897880" cy="3878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1554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42424"/>
                </a:solidFill>
              </a:rPr>
              <a:t>• Frontend Web — telas para os usuários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6720840" y="2075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42424"/>
                </a:solidFill>
              </a:rPr>
              <a:t>• Backend API — aplica regras e </a:t>
            </a:r>
            <a:r>
              <a:rPr lang="en-US" sz="1240" dirty="0" err="1">
                <a:solidFill>
                  <a:srgbClr val="242424"/>
                </a:solidFill>
              </a:rPr>
              <a:t>coordena</a:t>
            </a:r>
            <a:r>
              <a:rPr lang="en-US" sz="1240" dirty="0">
                <a:solidFill>
                  <a:srgbClr val="242424"/>
                </a:solidFill>
              </a:rPr>
              <a:t> </a:t>
            </a:r>
            <a:r>
              <a:rPr lang="en-US" sz="1240" dirty="0" err="1">
                <a:solidFill>
                  <a:srgbClr val="242424"/>
                </a:solidFill>
              </a:rPr>
              <a:t>operações</a:t>
            </a:r>
            <a:endParaRPr lang="en-US" sz="1240" dirty="0">
              <a:solidFill>
                <a:srgbClr val="242424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720840" y="2587752"/>
            <a:ext cx="53456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40" dirty="0">
                <a:solidFill>
                  <a:srgbClr val="242424"/>
                </a:solidFill>
              </a:rPr>
              <a:t>• Banco de dados — guarda usuários, turmas, atividades, entregas e </a:t>
            </a:r>
            <a:r>
              <a:rPr lang="en-US" sz="1240" dirty="0" err="1">
                <a:solidFill>
                  <a:srgbClr val="242424"/>
                </a:solidFill>
              </a:rPr>
              <a:t>notas</a:t>
            </a:r>
            <a:endParaRPr lang="en-US" sz="1240" dirty="0">
              <a:solidFill>
                <a:srgbClr val="242424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720840" y="311810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42424"/>
                </a:solidFill>
              </a:rPr>
              <a:t>• Serviço de notificações — avisa sem travar o fluxo principal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6720840" y="36393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42424"/>
                </a:solidFill>
              </a:rPr>
              <a:t>• E-mail — canal externo de comunicação</a:t>
            </a:r>
            <a:endParaRPr lang="en-US" sz="1240" dirty="0"/>
          </a:p>
        </p:txBody>
      </p:sp>
      <p:sp>
        <p:nvSpPr>
          <p:cNvPr id="13" name="Shape 10"/>
          <p:cNvSpPr/>
          <p:nvPr/>
        </p:nvSpPr>
        <p:spPr>
          <a:xfrm>
            <a:off x="6629400" y="4892040"/>
            <a:ext cx="4526280" cy="777240"/>
          </a:xfrm>
          <a:prstGeom prst="roundRect">
            <a:avLst>
              <a:gd name="adj" fmla="val 7059"/>
            </a:avLst>
          </a:prstGeom>
          <a:solidFill>
            <a:srgbClr val="EAF2FB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93992" y="5020056"/>
            <a:ext cx="4197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242424"/>
                </a:solidFill>
              </a:rPr>
              <a:t>Onde ficam as regras?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242424"/>
                </a:solidFill>
              </a:rPr>
              <a:t>No backend/domínio, para que não dependam apenas da tela do usuário.</a:t>
            </a:r>
            <a:endParaRPr lang="en-US" sz="13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3334D"/>
                </a:solidFill>
              </a:rPr>
              <a:t>6. Funcionalidade inovadora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3977640" y="3149928"/>
            <a:ext cx="3991984" cy="2242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6969"/>
                </a:solidFill>
              </a:rPr>
              <a:t>Correção assistida por IA com revisão obrigatória do professor.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32004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82496"/>
            <a:ext cx="28712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Descrição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A IA sugere feedback inicial com base na entrega e nos critérios da atividade.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2004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682496"/>
            <a:ext cx="28712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Benefício esperado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Reduz retrabalho e ajuda o aluno a receber retorno mais rápido.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83880" y="1554480"/>
            <a:ext cx="3063240" cy="1005840"/>
          </a:xfrm>
          <a:prstGeom prst="roundRect">
            <a:avLst>
              <a:gd name="adj" fmla="val 5455"/>
            </a:avLst>
          </a:prstGeom>
          <a:solidFill>
            <a:srgbClr val="EAF2FB"/>
          </a:solidFill>
          <a:ln w="12700">
            <a:solidFill>
              <a:srgbClr val="C8D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682496"/>
            <a:ext cx="2734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Viabilidade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42424"/>
                </a:solidFill>
              </a:rPr>
              <a:t>Módulo auxiliar chamado pelo backend, sem substituir o professor.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365760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3785616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2424"/>
                </a:solidFill>
              </a:rPr>
              <a:t>Entrega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331720" y="3922776"/>
            <a:ext cx="457200" cy="0"/>
          </a:xfrm>
          <a:prstGeom prst="line">
            <a:avLst/>
          </a:prstGeom>
          <a:noFill/>
          <a:ln w="127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80360" y="365760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6D9"/>
          </a:solidFill>
          <a:ln w="12700">
            <a:solidFill>
              <a:srgbClr val="E5C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952" y="3785616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2424"/>
                </a:solidFill>
              </a:rPr>
              <a:t>IA sugere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343400" y="3922776"/>
            <a:ext cx="457200" cy="0"/>
          </a:xfrm>
          <a:prstGeom prst="line">
            <a:avLst/>
          </a:prstGeom>
          <a:noFill/>
          <a:ln w="127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92040" y="365760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3785616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2424"/>
                </a:solidFill>
              </a:rPr>
              <a:t>Professor revisa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355080" y="3922776"/>
            <a:ext cx="457200" cy="0"/>
          </a:xfrm>
          <a:prstGeom prst="line">
            <a:avLst/>
          </a:prstGeom>
          <a:noFill/>
          <a:ln w="127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03720" y="365760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3785616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2424"/>
                </a:solidFill>
              </a:rPr>
              <a:t>Nota e feedback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366760" y="3922776"/>
            <a:ext cx="457200" cy="0"/>
          </a:xfrm>
          <a:prstGeom prst="line">
            <a:avLst/>
          </a:prstGeom>
          <a:noFill/>
          <a:ln w="127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15400" y="365760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3CC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79992" y="3785616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2424"/>
                </a:solidFill>
              </a:rPr>
              <a:t>Aluno visualiza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914400" y="5074920"/>
            <a:ext cx="9966960" cy="685800"/>
          </a:xfrm>
          <a:prstGeom prst="roundRect">
            <a:avLst>
              <a:gd name="adj" fmla="val 8000"/>
            </a:avLst>
          </a:prstGeom>
          <a:solidFill>
            <a:srgbClr val="FFF6D9"/>
          </a:solidFill>
          <a:ln w="12700">
            <a:solidFill>
              <a:srgbClr val="E5C5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5202936"/>
            <a:ext cx="9637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42424"/>
                </a:solidFill>
              </a:rPr>
              <a:t>Impactos arquiteturais: necessidade de serviço auxiliar de IA, histórico da sugestão, auditoria, autorização por perfil e bloqueio de publicação automática sem revisão humana.</a:t>
            </a:r>
            <a:endParaRPr lang="en-US" sz="12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3CC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19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6969"/>
                </a:solidFill>
              </a:rPr>
              <a:t>ClassFlow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54706" y="3190539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23334D"/>
                </a:solidFill>
              </a:rPr>
              <a:t>Obrigado</a:t>
            </a:r>
            <a:r>
              <a:rPr lang="en-US" sz="2400" b="1" dirty="0">
                <a:solidFill>
                  <a:srgbClr val="23334D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1251</Words>
  <Application>Microsoft Office PowerPoint</Application>
  <PresentationFormat>Widescreen</PresentationFormat>
  <Paragraphs>201</Paragraphs>
  <Slides>15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UNIJUÍ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ClassFlow - Sistema de Gestão de Sala de Aula Online</dc:title>
  <dc:subject>ClassFlow - apresentação final</dc:subject>
  <dc:creator>Grupo ClassFlow</dc:creator>
  <cp:lastModifiedBy>Rodrigo</cp:lastModifiedBy>
  <cp:revision>7</cp:revision>
  <dcterms:created xsi:type="dcterms:W3CDTF">2026-06-26T00:46:11Z</dcterms:created>
  <dcterms:modified xsi:type="dcterms:W3CDTF">2026-06-27T00:09:59Z</dcterms:modified>
</cp:coreProperties>
</file>